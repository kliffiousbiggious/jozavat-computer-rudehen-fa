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4" r:id="rId1"/>
    <p:sldMasterId id="2147484056" r:id="rId2"/>
  </p:sldMasterIdLst>
  <p:notesMasterIdLst>
    <p:notesMasterId r:id="rId21"/>
  </p:notesMasterIdLst>
  <p:sldIdLst>
    <p:sldId id="256" r:id="rId3"/>
    <p:sldId id="257" r:id="rId4"/>
    <p:sldId id="258" r:id="rId5"/>
    <p:sldId id="259" r:id="rId6"/>
    <p:sldId id="263" r:id="rId7"/>
    <p:sldId id="265" r:id="rId8"/>
    <p:sldId id="260" r:id="rId9"/>
    <p:sldId id="264" r:id="rId10"/>
    <p:sldId id="261" r:id="rId11"/>
    <p:sldId id="266" r:id="rId12"/>
    <p:sldId id="267" r:id="rId13"/>
    <p:sldId id="262" r:id="rId14"/>
    <p:sldId id="269" r:id="rId15"/>
    <p:sldId id="270" r:id="rId16"/>
    <p:sldId id="271" r:id="rId17"/>
    <p:sldId id="273" r:id="rId18"/>
    <p:sldId id="272"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بنام خدا" id="{A98691F0-F019-4EA9-B445-8715C2FCF009}">
          <p14:sldIdLst>
            <p14:sldId id="256"/>
          </p14:sldIdLst>
        </p14:section>
        <p14:section name="مقدمه" id="{E9AAFAB2-D9A8-4211-A850-F1F79D273B4A}">
          <p14:sldIdLst>
            <p14:sldId id="257"/>
          </p14:sldIdLst>
        </p14:section>
        <p14:section name="دلیل اهمیت کرنل یونیکس" id="{250DD010-8729-402F-9116-D16BCE0022E8}">
          <p14:sldIdLst>
            <p14:sldId id="258"/>
          </p14:sldIdLst>
        </p14:section>
        <p14:section name="System Calls and Kernel" id="{794FA9FF-F5D2-4983-B166-7BE43ABAB502}">
          <p14:sldIdLst>
            <p14:sldId id="259"/>
            <p14:sldId id="263"/>
            <p14:sldId id="265"/>
            <p14:sldId id="260"/>
            <p14:sldId id="264"/>
            <p14:sldId id="261"/>
            <p14:sldId id="266"/>
            <p14:sldId id="267"/>
            <p14:sldId id="262"/>
            <p14:sldId id="269"/>
            <p14:sldId id="270"/>
            <p14:sldId id="271"/>
            <p14:sldId id="273"/>
            <p14:sldId id="272"/>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1930" autoAdjust="0"/>
  </p:normalViewPr>
  <p:slideViewPr>
    <p:cSldViewPr snapToGrid="0">
      <p:cViewPr varScale="1">
        <p:scale>
          <a:sx n="105" d="100"/>
          <a:sy n="105" d="100"/>
        </p:scale>
        <p:origin x="834" y="10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fa-I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7E3F2A0B-7AC2-45F0-890B-130004FE892D}" type="datetimeFigureOut">
              <a:rPr lang="fa-IR" smtClean="0"/>
              <a:t>21/10/1442</a:t>
            </a:fld>
            <a:endParaRPr lang="fa-I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a-I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fa-I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C23E2869-58B4-40BF-9A73-7C7EE0234A94}" type="slidenum">
              <a:rPr lang="fa-IR" smtClean="0"/>
              <a:t>‹#›</a:t>
            </a:fld>
            <a:endParaRPr lang="fa-IR"/>
          </a:p>
        </p:txBody>
      </p:sp>
    </p:spTree>
    <p:extLst>
      <p:ext uri="{BB962C8B-B14F-4D97-AF65-F5344CB8AC3E}">
        <p14:creationId xmlns:p14="http://schemas.microsoft.com/office/powerpoint/2010/main" val="4716004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a:xfrm>
            <a:off x="2692397" y="5037663"/>
            <a:ext cx="5214635" cy="279400"/>
          </a:xfrm>
        </p:spPr>
        <p:txBody>
          <a:bodyPr/>
          <a:lstStyle/>
          <a:p>
            <a:endParaRPr lang="fa-IR"/>
          </a:p>
        </p:txBody>
      </p:sp>
      <p:sp>
        <p:nvSpPr>
          <p:cNvPr id="6" name="Slide Number Placeholder 5"/>
          <p:cNvSpPr>
            <a:spLocks noGrp="1"/>
          </p:cNvSpPr>
          <p:nvPr>
            <p:ph type="sldNum" sz="quarter" idx="12"/>
          </p:nvPr>
        </p:nvSpPr>
        <p:spPr>
          <a:xfrm>
            <a:off x="8956900" y="5037663"/>
            <a:ext cx="551167" cy="279400"/>
          </a:xfrm>
        </p:spPr>
        <p:txBody>
          <a:bodyPr/>
          <a:lstStyle/>
          <a:p>
            <a:fld id="{039DD8F7-1045-4C9A-83A9-2028B294ECEC}" type="slidenum">
              <a:rPr lang="fa-IR" smtClean="0"/>
              <a:t>‹#›</a:t>
            </a:fld>
            <a:endParaRPr lang="fa-IR"/>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31937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7399735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7837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39DD8F7-1045-4C9A-83A9-2028B294ECEC}" type="slidenum">
              <a:rPr lang="fa-IR" smtClean="0"/>
              <a:t>‹#›</a:t>
            </a:fld>
            <a:endParaRPr lang="fa-IR"/>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061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5EACA5-0791-4D01-99E6-8B97AE05314F}" type="datetimeFigureOut">
              <a:rPr lang="fa-IR" smtClean="0"/>
              <a:t>20/10/1442</a:t>
            </a:fld>
            <a:endParaRPr lang="fa-IR"/>
          </a:p>
        </p:txBody>
      </p:sp>
      <p:sp>
        <p:nvSpPr>
          <p:cNvPr id="8" name="Footer Placeholder 7"/>
          <p:cNvSpPr>
            <a:spLocks noGrp="1"/>
          </p:cNvSpPr>
          <p:nvPr>
            <p:ph type="ftr" sz="quarter" idx="11"/>
          </p:nvPr>
        </p:nvSpPr>
        <p:spPr/>
        <p:txBody>
          <a:bodyPr/>
          <a:lstStyle/>
          <a:p>
            <a:endParaRPr lang="fa-IR"/>
          </a:p>
        </p:txBody>
      </p:sp>
      <p:sp>
        <p:nvSpPr>
          <p:cNvPr id="9" name="Slide Number Placeholder 8"/>
          <p:cNvSpPr>
            <a:spLocks noGrp="1"/>
          </p:cNvSpPr>
          <p:nvPr>
            <p:ph type="sldNum" sz="quarter" idx="12"/>
          </p:nvPr>
        </p:nvSpPr>
        <p:spPr/>
        <p:txBody>
          <a:bodyPr/>
          <a:lstStyle/>
          <a:p>
            <a:fld id="{039DD8F7-1045-4C9A-83A9-2028B294ECEC}" type="slidenum">
              <a:rPr lang="fa-IR" smtClean="0"/>
              <a:t>‹#›</a:t>
            </a:fld>
            <a:endParaRPr lang="fa-IR"/>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768455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5EACA5-0791-4D01-99E6-8B97AE05314F}" type="datetimeFigureOut">
              <a:rPr lang="fa-IR" smtClean="0"/>
              <a:t>20/10/1442</a:t>
            </a:fld>
            <a:endParaRPr lang="fa-IR"/>
          </a:p>
        </p:txBody>
      </p:sp>
      <p:sp>
        <p:nvSpPr>
          <p:cNvPr id="4" name="Footer Placeholder 3"/>
          <p:cNvSpPr>
            <a:spLocks noGrp="1"/>
          </p:cNvSpPr>
          <p:nvPr>
            <p:ph type="ftr" sz="quarter" idx="11"/>
          </p:nvPr>
        </p:nvSpPr>
        <p:spPr/>
        <p:txBody>
          <a:bodyPr/>
          <a:lstStyle/>
          <a:p>
            <a:endParaRPr lang="fa-IR"/>
          </a:p>
        </p:txBody>
      </p:sp>
      <p:sp>
        <p:nvSpPr>
          <p:cNvPr id="5" name="Slide Number Placeholder 4"/>
          <p:cNvSpPr>
            <a:spLocks noGrp="1"/>
          </p:cNvSpPr>
          <p:nvPr>
            <p:ph type="sldNum" sz="quarter" idx="12"/>
          </p:nvPr>
        </p:nvSpPr>
        <p:spPr/>
        <p:txBody>
          <a:bodyPr/>
          <a:lstStyle/>
          <a:p>
            <a:fld id="{039DD8F7-1045-4C9A-83A9-2028B294ECEC}" type="slidenum">
              <a:rPr lang="fa-IR" smtClean="0"/>
              <a:t>‹#›</a:t>
            </a:fld>
            <a:endParaRPr lang="fa-I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16460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5EACA5-0791-4D01-99E6-8B97AE05314F}" type="datetimeFigureOut">
              <a:rPr lang="fa-IR" smtClean="0"/>
              <a:t>20/10/1442</a:t>
            </a:fld>
            <a:endParaRPr lang="fa-IR"/>
          </a:p>
        </p:txBody>
      </p:sp>
      <p:sp>
        <p:nvSpPr>
          <p:cNvPr id="3" name="Footer Placeholder 2"/>
          <p:cNvSpPr>
            <a:spLocks noGrp="1"/>
          </p:cNvSpPr>
          <p:nvPr>
            <p:ph type="ftr" sz="quarter" idx="11"/>
          </p:nvPr>
        </p:nvSpPr>
        <p:spPr/>
        <p:txBody>
          <a:bodyPr/>
          <a:lstStyle/>
          <a:p>
            <a:endParaRPr lang="fa-IR"/>
          </a:p>
        </p:txBody>
      </p:sp>
      <p:sp>
        <p:nvSpPr>
          <p:cNvPr id="4" name="Slide Number Placeholder 3"/>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1806509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39DD8F7-1045-4C9A-83A9-2028B294ECEC}" type="slidenum">
              <a:rPr lang="fa-IR" smtClean="0"/>
              <a:t>‹#›</a:t>
            </a:fld>
            <a:endParaRPr lang="fa-IR"/>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94149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1761496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169244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6617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06411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19989678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518442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067713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54299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403787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fa-I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39DD8F7-1045-4C9A-83A9-2028B294ECEC}" type="slidenum">
              <a:rPr lang="fa-IR" smtClean="0"/>
              <a:t>‹#›</a:t>
            </a:fld>
            <a:endParaRPr lang="fa-IR"/>
          </a:p>
        </p:txBody>
      </p:sp>
    </p:spTree>
    <p:extLst>
      <p:ext uri="{BB962C8B-B14F-4D97-AF65-F5344CB8AC3E}">
        <p14:creationId xmlns:p14="http://schemas.microsoft.com/office/powerpoint/2010/main" val="23063780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a:xfrm>
            <a:off x="10558300" y="5956137"/>
            <a:ext cx="1052508" cy="365125"/>
          </a:xfrm>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26880316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fa-I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39DD8F7-1045-4C9A-83A9-2028B294ECEC}" type="slidenum">
              <a:rPr lang="fa-IR" smtClean="0"/>
              <a:t>‹#›</a:t>
            </a:fld>
            <a:endParaRPr lang="fa-IR"/>
          </a:p>
        </p:txBody>
      </p:sp>
    </p:spTree>
    <p:extLst>
      <p:ext uri="{BB962C8B-B14F-4D97-AF65-F5344CB8AC3E}">
        <p14:creationId xmlns:p14="http://schemas.microsoft.com/office/powerpoint/2010/main" val="381092034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33031059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65EACA5-0791-4D01-99E6-8B97AE05314F}" type="datetimeFigureOut">
              <a:rPr lang="fa-IR" smtClean="0"/>
              <a:t>20/10/1442</a:t>
            </a:fld>
            <a:endParaRPr lang="fa-IR"/>
          </a:p>
        </p:txBody>
      </p:sp>
      <p:sp>
        <p:nvSpPr>
          <p:cNvPr id="8" name="Footer Placeholder 7"/>
          <p:cNvSpPr>
            <a:spLocks noGrp="1"/>
          </p:cNvSpPr>
          <p:nvPr>
            <p:ph type="ftr" sz="quarter" idx="11"/>
          </p:nvPr>
        </p:nvSpPr>
        <p:spPr/>
        <p:txBody>
          <a:bodyPr/>
          <a:lstStyle/>
          <a:p>
            <a:endParaRPr lang="fa-IR"/>
          </a:p>
        </p:txBody>
      </p:sp>
      <p:sp>
        <p:nvSpPr>
          <p:cNvPr id="9" name="Slide Number Placeholder 8"/>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32430796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65EACA5-0791-4D01-99E6-8B97AE05314F}" type="datetimeFigureOut">
              <a:rPr lang="fa-IR" smtClean="0"/>
              <a:t>20/10/1442</a:t>
            </a:fld>
            <a:endParaRPr lang="fa-IR"/>
          </a:p>
        </p:txBody>
      </p:sp>
      <p:sp>
        <p:nvSpPr>
          <p:cNvPr id="4" name="Footer Placeholder 3"/>
          <p:cNvSpPr>
            <a:spLocks noGrp="1"/>
          </p:cNvSpPr>
          <p:nvPr>
            <p:ph type="ftr" sz="quarter" idx="11"/>
          </p:nvPr>
        </p:nvSpPr>
        <p:spPr/>
        <p:txBody>
          <a:bodyPr/>
          <a:lstStyle/>
          <a:p>
            <a:endParaRPr lang="fa-IR"/>
          </a:p>
        </p:txBody>
      </p:sp>
      <p:sp>
        <p:nvSpPr>
          <p:cNvPr id="5" name="Slide Number Placeholder 4"/>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17196767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5EACA5-0791-4D01-99E6-8B97AE05314F}" type="datetimeFigureOut">
              <a:rPr lang="fa-IR" smtClean="0"/>
              <a:t>20/10/1442</a:t>
            </a:fld>
            <a:endParaRPr lang="fa-IR"/>
          </a:p>
        </p:txBody>
      </p:sp>
      <p:sp>
        <p:nvSpPr>
          <p:cNvPr id="3" name="Footer Placeholder 2"/>
          <p:cNvSpPr>
            <a:spLocks noGrp="1"/>
          </p:cNvSpPr>
          <p:nvPr>
            <p:ph type="ftr" sz="quarter" idx="11"/>
          </p:nvPr>
        </p:nvSpPr>
        <p:spPr/>
        <p:txBody>
          <a:bodyPr/>
          <a:lstStyle/>
          <a:p>
            <a:endParaRPr lang="fa-IR"/>
          </a:p>
        </p:txBody>
      </p:sp>
      <p:sp>
        <p:nvSpPr>
          <p:cNvPr id="4" name="Slide Number Placeholder 3"/>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257225168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fa-I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39DD8F7-1045-4C9A-83A9-2028B294ECEC}" type="slidenum">
              <a:rPr lang="fa-IR" smtClean="0"/>
              <a:t>‹#›</a:t>
            </a:fld>
            <a:endParaRPr lang="fa-IR"/>
          </a:p>
        </p:txBody>
      </p:sp>
    </p:spTree>
    <p:extLst>
      <p:ext uri="{BB962C8B-B14F-4D97-AF65-F5344CB8AC3E}">
        <p14:creationId xmlns:p14="http://schemas.microsoft.com/office/powerpoint/2010/main" val="6387910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65EACA5-0791-4D01-99E6-8B97AE05314F}" type="datetimeFigureOut">
              <a:rPr lang="fa-IR" smtClean="0"/>
              <a:t>20/10/1442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28902566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039DD8F7-1045-4C9A-83A9-2028B294ECEC}" type="slidenum">
              <a:rPr lang="fa-IR" smtClean="0"/>
              <a:t>‹#›</a:t>
            </a:fld>
            <a:endParaRPr lang="fa-IR"/>
          </a:p>
        </p:txBody>
      </p:sp>
    </p:spTree>
    <p:extLst>
      <p:ext uri="{BB962C8B-B14F-4D97-AF65-F5344CB8AC3E}">
        <p14:creationId xmlns:p14="http://schemas.microsoft.com/office/powerpoint/2010/main" val="25560828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365EACA5-0791-4D01-99E6-8B97AE05314F}" type="datetimeFigureOut">
              <a:rPr lang="fa-IR" smtClean="0"/>
              <a:t>20/10/1442</a:t>
            </a:fld>
            <a:endParaRPr lang="fa-IR"/>
          </a:p>
        </p:txBody>
      </p:sp>
      <p:sp>
        <p:nvSpPr>
          <p:cNvPr id="5" name="Footer Placeholder 4"/>
          <p:cNvSpPr>
            <a:spLocks noGrp="1"/>
          </p:cNvSpPr>
          <p:nvPr>
            <p:ph type="ftr" sz="quarter" idx="11"/>
          </p:nvPr>
        </p:nvSpPr>
        <p:spPr>
          <a:xfrm>
            <a:off x="774923" y="5951811"/>
            <a:ext cx="7896279" cy="365125"/>
          </a:xfrm>
        </p:spPr>
        <p:txBody>
          <a:bodyPr/>
          <a:lstStyle/>
          <a:p>
            <a:endParaRPr lang="fa-I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39DD8F7-1045-4C9A-83A9-2028B294ECEC}" type="slidenum">
              <a:rPr lang="fa-IR" smtClean="0"/>
              <a:t>‹#›</a:t>
            </a:fld>
            <a:endParaRPr lang="fa-IR"/>
          </a:p>
        </p:txBody>
      </p:sp>
    </p:spTree>
    <p:extLst>
      <p:ext uri="{BB962C8B-B14F-4D97-AF65-F5344CB8AC3E}">
        <p14:creationId xmlns:p14="http://schemas.microsoft.com/office/powerpoint/2010/main" val="25839294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theme" Target="../theme/theme2.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65EACA5-0791-4D01-99E6-8B97AE05314F}" type="datetimeFigureOut">
              <a:rPr lang="fa-IR" smtClean="0"/>
              <a:t>20/10/1442</a:t>
            </a:fld>
            <a:endParaRPr lang="fa-IR"/>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fa-I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39DD8F7-1045-4C9A-83A9-2028B294ECEC}" type="slidenum">
              <a:rPr lang="fa-IR" smtClean="0"/>
              <a:t>‹#›</a:t>
            </a:fld>
            <a:endParaRPr lang="fa-IR"/>
          </a:p>
        </p:txBody>
      </p:sp>
    </p:spTree>
    <p:extLst>
      <p:ext uri="{BB962C8B-B14F-4D97-AF65-F5344CB8AC3E}">
        <p14:creationId xmlns:p14="http://schemas.microsoft.com/office/powerpoint/2010/main" val="2265026444"/>
      </p:ext>
    </p:extLst>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 id="2147483964" r:id="rId10"/>
    <p:sldLayoutId id="2147483965" r:id="rId11"/>
    <p:sldLayoutId id="2147483966" r:id="rId12"/>
    <p:sldLayoutId id="2147483967" r:id="rId13"/>
    <p:sldLayoutId id="2147483968" r:id="rId14"/>
    <p:sldLayoutId id="2147483969" r:id="rId15"/>
    <p:sldLayoutId id="2147483970" r:id="rId16"/>
    <p:sldLayoutId id="2147483971" r:id="rId17"/>
  </p:sldLayoutIdLst>
  <p:txStyles>
    <p:titleStyle>
      <a:lvl1pPr algn="ctr" defTabSz="457200" rtl="1"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85750" indent="-285750" algn="r" defTabSz="457200" rtl="1"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r" defTabSz="457200" rtl="1"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r" defTabSz="457200" rtl="1"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r" defTabSz="457200" rtl="1"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365EACA5-0791-4D01-99E6-8B97AE05314F}" type="datetimeFigureOut">
              <a:rPr lang="fa-IR" smtClean="0"/>
              <a:t>20/10/1442</a:t>
            </a:fld>
            <a:endParaRPr lang="fa-IR"/>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fa-IR"/>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39DD8F7-1045-4C9A-83A9-2028B294ECEC}" type="slidenum">
              <a:rPr lang="fa-IR" smtClean="0"/>
              <a:t>‹#›</a:t>
            </a:fld>
            <a:endParaRPr lang="fa-IR"/>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90870979"/>
      </p:ext>
    </p:extLst>
  </p:cSld>
  <p:clrMap bg1="lt1" tx1="dk1" bg2="lt2" tx2="dk2" accent1="accent1" accent2="accent2" accent3="accent3" accent4="accent4" accent5="accent5" accent6="accent6" hlink="hlink" folHlink="folHlink"/>
  <p:sldLayoutIdLst>
    <p:sldLayoutId id="2147484057" r:id="rId1"/>
    <p:sldLayoutId id="2147484058" r:id="rId2"/>
    <p:sldLayoutId id="2147484059" r:id="rId3"/>
    <p:sldLayoutId id="2147484060" r:id="rId4"/>
    <p:sldLayoutId id="2147484061" r:id="rId5"/>
    <p:sldLayoutId id="2147484062" r:id="rId6"/>
    <p:sldLayoutId id="2147484063" r:id="rId7"/>
    <p:sldLayoutId id="2147484064" r:id="rId8"/>
    <p:sldLayoutId id="2147484065" r:id="rId9"/>
    <p:sldLayoutId id="2147484066" r:id="rId10"/>
    <p:sldLayoutId id="2147484067" r:id="rId11"/>
  </p:sldLayoutIdLst>
  <p:txStyles>
    <p:titleStyle>
      <a:lvl1pPr algn="l" defTabSz="457200" rtl="1" eaLnBrk="1" latinLnBrk="0" hangingPunct="1">
        <a:spcBef>
          <a:spcPct val="0"/>
        </a:spcBef>
        <a:buNone/>
        <a:defRPr sz="2800" b="0" kern="1200" cap="all">
          <a:solidFill>
            <a:schemeClr val="bg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06000" indent="-306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2323750" y="1677798"/>
            <a:ext cx="7550092" cy="1862356"/>
          </a:xfrm>
        </p:spPr>
        <p:txBody>
          <a:bodyPr anchor="ctr"/>
          <a:lstStyle/>
          <a:p>
            <a:r>
              <a:rPr lang="fa-IR" b="1" dirty="0"/>
              <a:t>بنام خدا</a:t>
            </a:r>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2320954" y="3540154"/>
            <a:ext cx="7550092" cy="1711354"/>
          </a:xfrm>
        </p:spPr>
        <p:txBody>
          <a:bodyPr>
            <a:normAutofit/>
          </a:bodyPr>
          <a:lstStyle/>
          <a:p>
            <a:pPr algn="r"/>
            <a:r>
              <a:rPr lang="fa-IR" b="1" dirty="0"/>
              <a:t>                               موضوع تحقیق و ارائه: کرنل یونیکس</a:t>
            </a:r>
          </a:p>
          <a:p>
            <a:pPr algn="r"/>
            <a:r>
              <a:rPr lang="fa-IR" b="1" dirty="0"/>
              <a:t>درس: سیستم های عامل                                              استاد: میر شهریار امامی </a:t>
            </a:r>
            <a:br>
              <a:rPr lang="fa-IR" b="1" dirty="0"/>
            </a:br>
            <a:br>
              <a:rPr lang="fa-IR" b="1" dirty="0"/>
            </a:br>
            <a:r>
              <a:rPr lang="fa-IR" b="1" dirty="0"/>
              <a:t>                             کار انفرادی توسط امیرمحمد خالقی فرید</a:t>
            </a:r>
          </a:p>
        </p:txBody>
      </p:sp>
    </p:spTree>
    <p:extLst>
      <p:ext uri="{BB962C8B-B14F-4D97-AF65-F5344CB8AC3E}">
        <p14:creationId xmlns:p14="http://schemas.microsoft.com/office/powerpoint/2010/main" val="2562443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lstStyle/>
          <a:p>
            <a:pPr algn="r"/>
            <a:r>
              <a:rPr lang="fa-IR" sz="5400" b="1" dirty="0"/>
              <a:t>مقدمه ای کلی برای کرنل:</a:t>
            </a:r>
            <a:endParaRPr lang="fa-IR" b="1" dirty="0"/>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1" y="3078515"/>
            <a:ext cx="11262800" cy="3331163"/>
          </a:xfrm>
        </p:spPr>
        <p:txBody>
          <a:bodyPr>
            <a:normAutofit fontScale="92500" lnSpcReduction="10000"/>
          </a:bodyPr>
          <a:lstStyle/>
          <a:p>
            <a:pPr algn="r"/>
            <a:r>
              <a:rPr lang="fa-IR" sz="2800" b="1" dirty="0">
                <a:solidFill>
                  <a:schemeClr val="bg1"/>
                </a:solidFill>
                <a:latin typeface="Times New Roman" panose="02020603050405020304" pitchFamily="18" charset="0"/>
                <a:cs typeface="Times New Roman" panose="02020603050405020304" pitchFamily="18" charset="0"/>
              </a:rPr>
              <a:t>کرنل هسته مرکزی سیستم عامل و بخشی جدایی ناپذیر از آن است که مدیریت و کنترل تمام منابع سخت افزاری، سیستم عامل و نرم افزار ها را بر عهده دارد.هر برنامه ای در سیستم عامل به هنگام اجرا نیاز به منابع سخت افزاری دارد.در توضیحی ساده به هنگام اجرای یک برنامه درخواست منابع مورد نیاز به کرنل ارسال میگردد که البته این درخواست (که در عمل به آن </a:t>
            </a:r>
            <a:br>
              <a:rPr lang="fa-IR" sz="2800" b="1" dirty="0">
                <a:solidFill>
                  <a:schemeClr val="bg1"/>
                </a:solidFill>
                <a:latin typeface="Times New Roman" panose="02020603050405020304" pitchFamily="18" charset="0"/>
                <a:cs typeface="Times New Roman" panose="02020603050405020304" pitchFamily="18" charset="0"/>
              </a:rPr>
            </a:br>
            <a:r>
              <a:rPr lang="en-US" sz="2800" b="1" dirty="0">
                <a:solidFill>
                  <a:schemeClr val="bg1"/>
                </a:solidFill>
                <a:latin typeface="Times New Roman" panose="02020603050405020304" pitchFamily="18" charset="0"/>
                <a:cs typeface="Times New Roman" panose="02020603050405020304" pitchFamily="18" charset="0"/>
              </a:rPr>
              <a:t>System call</a:t>
            </a:r>
            <a:r>
              <a:rPr lang="fa-IR" sz="2800" b="1" dirty="0">
                <a:solidFill>
                  <a:schemeClr val="bg1"/>
                </a:solidFill>
                <a:latin typeface="Times New Roman" panose="02020603050405020304" pitchFamily="18" charset="0"/>
                <a:cs typeface="Times New Roman" panose="02020603050405020304" pitchFamily="18" charset="0"/>
              </a:rPr>
              <a:t> یا تماس سیستم گفته میشود)</a:t>
            </a:r>
            <a:br>
              <a:rPr lang="fa-IR" sz="2800" b="1" dirty="0">
                <a:solidFill>
                  <a:schemeClr val="bg1"/>
                </a:solidFill>
                <a:latin typeface="Times New Roman" panose="02020603050405020304" pitchFamily="18" charset="0"/>
                <a:cs typeface="Times New Roman" panose="02020603050405020304" pitchFamily="18" charset="0"/>
              </a:rPr>
            </a:br>
            <a:r>
              <a:rPr lang="fa-IR" sz="2800" b="1" dirty="0">
                <a:solidFill>
                  <a:schemeClr val="bg1"/>
                </a:solidFill>
                <a:latin typeface="Times New Roman" panose="02020603050405020304" pitchFamily="18" charset="0"/>
                <a:cs typeface="Times New Roman" panose="02020603050405020304" pitchFamily="18" charset="0"/>
              </a:rPr>
              <a:t>بصورت مستقیم توسط خود برنامه ارسال نمیگردد و از طریق واسطه </a:t>
            </a:r>
            <a:br>
              <a:rPr lang="fa-IR" sz="2800" b="1" dirty="0">
                <a:solidFill>
                  <a:schemeClr val="bg1"/>
                </a:solidFill>
                <a:latin typeface="Times New Roman" panose="02020603050405020304" pitchFamily="18" charset="0"/>
                <a:cs typeface="Times New Roman" panose="02020603050405020304" pitchFamily="18" charset="0"/>
              </a:rPr>
            </a:br>
            <a:r>
              <a:rPr lang="fa-IR" sz="2800" b="1" dirty="0">
                <a:solidFill>
                  <a:schemeClr val="bg1"/>
                </a:solidFill>
                <a:latin typeface="Times New Roman" panose="02020603050405020304" pitchFamily="18" charset="0"/>
                <a:cs typeface="Times New Roman" panose="02020603050405020304" pitchFamily="18" charset="0"/>
              </a:rPr>
              <a:t>سیستم عامل به کرنل ارسال شده و پس از تخصیص منابع توسط سیستم </a:t>
            </a:r>
            <a:br>
              <a:rPr lang="fa-IR" sz="2800" b="1" dirty="0">
                <a:solidFill>
                  <a:schemeClr val="bg1"/>
                </a:solidFill>
                <a:latin typeface="Times New Roman" panose="02020603050405020304" pitchFamily="18" charset="0"/>
                <a:cs typeface="Times New Roman" panose="02020603050405020304" pitchFamily="18" charset="0"/>
              </a:rPr>
            </a:br>
            <a:r>
              <a:rPr lang="fa-IR" sz="2800" b="1" dirty="0">
                <a:solidFill>
                  <a:schemeClr val="bg1"/>
                </a:solidFill>
                <a:latin typeface="Times New Roman" panose="02020603050405020304" pitchFamily="18" charset="0"/>
                <a:cs typeface="Times New Roman" panose="02020603050405020304" pitchFamily="18" charset="0"/>
              </a:rPr>
              <a:t>عامل و کرنل، برنامه اجرا میگردد.</a:t>
            </a:r>
            <a:br>
              <a:rPr lang="fa-IR" sz="2800" b="1" dirty="0">
                <a:solidFill>
                  <a:schemeClr val="bg1"/>
                </a:solidFill>
                <a:latin typeface="Times New Roman" panose="02020603050405020304" pitchFamily="18" charset="0"/>
                <a:cs typeface="Times New Roman" panose="02020603050405020304" pitchFamily="18" charset="0"/>
              </a:rPr>
            </a:br>
            <a:endParaRPr lang="fa-IR" sz="2800" b="1" dirty="0">
              <a:solidFill>
                <a:schemeClr val="bg1"/>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1D635AC-FA12-4707-90E9-687929EE6A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881" y="4224528"/>
            <a:ext cx="3311373" cy="2185150"/>
          </a:xfrm>
          <a:prstGeom prst="rect">
            <a:avLst/>
          </a:prstGeom>
        </p:spPr>
      </p:pic>
    </p:spTree>
    <p:extLst>
      <p:ext uri="{BB962C8B-B14F-4D97-AF65-F5344CB8AC3E}">
        <p14:creationId xmlns:p14="http://schemas.microsoft.com/office/powerpoint/2010/main" val="2800693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دلیل اهمیت کرنل </a:t>
            </a:r>
            <a:r>
              <a:rPr lang="en-US" sz="5400" b="1" dirty="0"/>
              <a:t>Unix</a:t>
            </a:r>
            <a:r>
              <a:rPr lang="fa-IR" sz="5400" b="1" dirty="0"/>
              <a:t>:</a:t>
            </a:r>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078515"/>
            <a:ext cx="11283519" cy="3331163"/>
          </a:xfrm>
        </p:spPr>
        <p:txBody>
          <a:bodyPr>
            <a:normAutofit/>
          </a:bodyPr>
          <a:lstStyle/>
          <a:p>
            <a:pPr algn="r"/>
            <a:r>
              <a:rPr lang="fa-IR" sz="2800" b="1" dirty="0">
                <a:solidFill>
                  <a:schemeClr val="bg1"/>
                </a:solidFill>
                <a:latin typeface="Times New Roman" panose="02020603050405020304" pitchFamily="18" charset="0"/>
                <a:cs typeface="Times New Roman" panose="02020603050405020304" pitchFamily="18" charset="0"/>
              </a:rPr>
              <a:t>سیستم عامل یونیکس در ابتدا سیستم عامل نسبتا ساده ای بود و تکامل آن در گذر سالها باعث شده است تا از یک سیستم عامل ساده به سیستم عاملی پیشرفته تبدیل شود.دلیل اصلی پتانسیل و ظرفیت بالای یونیکس برای توسعه یافتن و تکامل این است که کرنل یونیکس بخش ها و سرویس های گسترده و زیادی را مدیریت میکند که برخی از آنها عبارتند از:</a:t>
            </a:r>
            <a:r>
              <a:rPr lang="en-US" sz="2800" b="1" dirty="0">
                <a:solidFill>
                  <a:schemeClr val="bg1"/>
                </a:solidFill>
                <a:latin typeface="Times New Roman" panose="02020603050405020304" pitchFamily="18" charset="0"/>
                <a:cs typeface="Times New Roman" panose="02020603050405020304" pitchFamily="18" charset="0"/>
              </a:rPr>
              <a:t> </a:t>
            </a:r>
            <a:r>
              <a:rPr lang="fa-IR" sz="2800" b="1" dirty="0">
                <a:solidFill>
                  <a:schemeClr val="bg1"/>
                </a:solidFill>
                <a:latin typeface="Times New Roman" panose="02020603050405020304" pitchFamily="18" charset="0"/>
                <a:cs typeface="Times New Roman" panose="02020603050405020304" pitchFamily="18" charset="0"/>
              </a:rPr>
              <a:t>سیستم های فایل شبکه ای </a:t>
            </a:r>
            <a:r>
              <a:rPr lang="en-US" sz="2800" b="1" dirty="0">
                <a:solidFill>
                  <a:schemeClr val="bg1"/>
                </a:solidFill>
                <a:latin typeface="Times New Roman" panose="02020603050405020304" pitchFamily="18" charset="0"/>
                <a:cs typeface="Times New Roman" panose="02020603050405020304" pitchFamily="18" charset="0"/>
              </a:rPr>
              <a:t>(</a:t>
            </a:r>
            <a:r>
              <a:rPr lang="en-US" sz="2800" b="1" cap="none" dirty="0">
                <a:solidFill>
                  <a:schemeClr val="bg1"/>
                </a:solidFill>
                <a:latin typeface="Times New Roman" panose="02020603050405020304" pitchFamily="18" charset="0"/>
                <a:cs typeface="Times New Roman" panose="02020603050405020304" pitchFamily="18" charset="0"/>
              </a:rPr>
              <a:t>Network File Systems or NFSs)</a:t>
            </a:r>
            <a:r>
              <a:rPr lang="fa-IR" sz="2800" b="1" cap="none" dirty="0">
                <a:solidFill>
                  <a:schemeClr val="bg1"/>
                </a:solidFill>
                <a:latin typeface="Times New Roman" panose="02020603050405020304" pitchFamily="18" charset="0"/>
                <a:cs typeface="Times New Roman" panose="02020603050405020304" pitchFamily="18" charset="0"/>
              </a:rPr>
              <a:t>، خروجی و ورودی (</a:t>
            </a:r>
            <a:r>
              <a:rPr lang="en-US" sz="2800" b="1" cap="none" dirty="0">
                <a:solidFill>
                  <a:schemeClr val="bg1"/>
                </a:solidFill>
                <a:latin typeface="Times New Roman" panose="02020603050405020304" pitchFamily="18" charset="0"/>
                <a:cs typeface="Times New Roman" panose="02020603050405020304" pitchFamily="18" charset="0"/>
              </a:rPr>
              <a:t>I/O</a:t>
            </a:r>
            <a:r>
              <a:rPr lang="fa-IR" sz="2800" b="1" cap="none" dirty="0">
                <a:solidFill>
                  <a:schemeClr val="bg1"/>
                </a:solidFill>
                <a:latin typeface="Times New Roman" panose="02020603050405020304" pitchFamily="18" charset="0"/>
                <a:cs typeface="Times New Roman" panose="02020603050405020304" pitchFamily="18" charset="0"/>
              </a:rPr>
              <a:t>یا</a:t>
            </a:r>
            <a:r>
              <a:rPr lang="en-US" sz="2800" b="1" cap="none" dirty="0">
                <a:solidFill>
                  <a:schemeClr val="bg1"/>
                </a:solidFill>
                <a:latin typeface="Times New Roman" panose="02020603050405020304" pitchFamily="18" charset="0"/>
                <a:cs typeface="Times New Roman" panose="02020603050405020304" pitchFamily="18" charset="0"/>
              </a:rPr>
              <a:t>(Input/output</a:t>
            </a:r>
            <a:r>
              <a:rPr lang="fa-IR" sz="2800" b="1" cap="none" dirty="0">
                <a:solidFill>
                  <a:schemeClr val="bg1"/>
                </a:solidFill>
                <a:latin typeface="Times New Roman" panose="02020603050405020304" pitchFamily="18" charset="0"/>
                <a:cs typeface="Times New Roman" panose="02020603050405020304" pitchFamily="18" charset="0"/>
              </a:rPr>
              <a:t>، سوکت ها </a:t>
            </a:r>
            <a:r>
              <a:rPr lang="en-US" sz="2800" b="1" cap="none" dirty="0">
                <a:solidFill>
                  <a:schemeClr val="bg1"/>
                </a:solidFill>
                <a:latin typeface="Times New Roman" panose="02020603050405020304" pitchFamily="18" charset="0"/>
                <a:cs typeface="Times New Roman" panose="02020603050405020304" pitchFamily="18" charset="0"/>
              </a:rPr>
              <a:t>(Sockets)</a:t>
            </a:r>
            <a:r>
              <a:rPr lang="fa-IR" sz="2800" b="1" cap="none" dirty="0">
                <a:solidFill>
                  <a:schemeClr val="bg1"/>
                </a:solidFill>
                <a:latin typeface="Times New Roman" panose="02020603050405020304" pitchFamily="18" charset="0"/>
                <a:cs typeface="Times New Roman" panose="02020603050405020304" pitchFamily="18" charset="0"/>
              </a:rPr>
              <a:t> و مدیریت فرایند ها و حافظه </a:t>
            </a:r>
            <a:r>
              <a:rPr lang="en-US" sz="2800" b="1" cap="none" dirty="0">
                <a:solidFill>
                  <a:schemeClr val="bg1"/>
                </a:solidFill>
                <a:latin typeface="Times New Roman" panose="02020603050405020304" pitchFamily="18" charset="0"/>
                <a:cs typeface="Times New Roman" panose="02020603050405020304" pitchFamily="18" charset="0"/>
              </a:rPr>
              <a:t>Process and Memory Management)</a:t>
            </a:r>
            <a:r>
              <a:rPr lang="fa-IR" sz="2800" b="1" cap="none" dirty="0">
                <a:solidFill>
                  <a:schemeClr val="bg1"/>
                </a:solidFill>
                <a:latin typeface="Times New Roman" panose="02020603050405020304" pitchFamily="18" charset="0"/>
                <a:cs typeface="Times New Roman" panose="02020603050405020304" pitchFamily="18" charset="0"/>
              </a:rPr>
              <a:t>).</a:t>
            </a:r>
            <a:endParaRPr lang="fa-IR"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9357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کرنل </a:t>
            </a:r>
            <a:r>
              <a:rPr lang="en-US" sz="5400" b="1" dirty="0"/>
              <a:t>Unix</a:t>
            </a:r>
            <a:r>
              <a:rPr lang="fa-IR" sz="5400" b="1" dirty="0"/>
              <a:t> و </a:t>
            </a:r>
            <a:r>
              <a:rPr lang="en-US" sz="5400" b="1" dirty="0"/>
              <a:t>System call</a:t>
            </a:r>
            <a:r>
              <a:rPr lang="fa-IR" sz="5400" b="1" dirty="0"/>
              <a:t> های آن:</a:t>
            </a:r>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101799"/>
            <a:ext cx="11283519" cy="3307879"/>
          </a:xfrm>
        </p:spPr>
        <p:txBody>
          <a:bodyPr>
            <a:normAutofit lnSpcReduction="10000"/>
          </a:bodyPr>
          <a:lstStyle/>
          <a:p>
            <a:pPr algn="r"/>
            <a:r>
              <a:rPr lang="fa-IR" sz="2400" b="1" dirty="0">
                <a:solidFill>
                  <a:schemeClr val="bg1"/>
                </a:solidFill>
                <a:latin typeface="Times New Roman" panose="02020603050405020304" pitchFamily="18" charset="0"/>
                <a:cs typeface="Times New Roman" panose="02020603050405020304" pitchFamily="18" charset="0"/>
              </a:rPr>
              <a:t>کرنل یونیکس هسته ی مرکزی سیستم عامل میباشد که راه ارتباطی  با دستگاه های سخت افزاری و همچنین مدیریت فرایند ها </a:t>
            </a:r>
            <a:r>
              <a:rPr lang="en-US" sz="2400" b="1" dirty="0">
                <a:solidFill>
                  <a:schemeClr val="bg1"/>
                </a:solidFill>
                <a:latin typeface="Times New Roman" panose="02020603050405020304" pitchFamily="18" charset="0"/>
                <a:cs typeface="Times New Roman" panose="02020603050405020304" pitchFamily="18" charset="0"/>
              </a:rPr>
              <a:t>(p</a:t>
            </a:r>
            <a:r>
              <a:rPr lang="en-US" sz="2400" b="1" cap="none" dirty="0">
                <a:solidFill>
                  <a:schemeClr val="bg1"/>
                </a:solidFill>
                <a:latin typeface="Times New Roman" panose="02020603050405020304" pitchFamily="18" charset="0"/>
                <a:cs typeface="Times New Roman" panose="02020603050405020304" pitchFamily="18" charset="0"/>
              </a:rPr>
              <a:t>rocesses)</a:t>
            </a:r>
            <a:r>
              <a:rPr lang="fa-IR" sz="2400" b="1" cap="none" dirty="0">
                <a:solidFill>
                  <a:schemeClr val="bg1"/>
                </a:solidFill>
                <a:latin typeface="Times New Roman" panose="02020603050405020304" pitchFamily="18" charset="0"/>
                <a:cs typeface="Times New Roman" panose="02020603050405020304" pitchFamily="18" charset="0"/>
              </a:rPr>
              <a:t>،حافظه </a:t>
            </a:r>
            <a:r>
              <a:rPr lang="en-US" sz="2400" b="1" cap="none" dirty="0">
                <a:solidFill>
                  <a:schemeClr val="bg1"/>
                </a:solidFill>
                <a:latin typeface="Times New Roman" panose="02020603050405020304" pitchFamily="18" charset="0"/>
                <a:cs typeface="Times New Roman" panose="02020603050405020304" pitchFamily="18" charset="0"/>
              </a:rPr>
              <a:t>Memory)</a:t>
            </a:r>
            <a:r>
              <a:rPr lang="fa-IR" sz="2400" b="1" cap="none" dirty="0">
                <a:solidFill>
                  <a:schemeClr val="bg1"/>
                </a:solidFill>
                <a:latin typeface="Times New Roman" panose="02020603050405020304" pitchFamily="18" charset="0"/>
                <a:cs typeface="Times New Roman" panose="02020603050405020304" pitchFamily="18" charset="0"/>
              </a:rPr>
              <a:t>) و ورودی و خروجی </a:t>
            </a:r>
            <a:r>
              <a:rPr lang="en-US" sz="2400" b="1" cap="none" dirty="0">
                <a:solidFill>
                  <a:schemeClr val="bg1"/>
                </a:solidFill>
                <a:latin typeface="Times New Roman" panose="02020603050405020304" pitchFamily="18" charset="0"/>
                <a:cs typeface="Times New Roman" panose="02020603050405020304" pitchFamily="18" charset="0"/>
              </a:rPr>
              <a:t>I/O)</a:t>
            </a:r>
            <a:r>
              <a:rPr lang="fa-IR" sz="2400" b="1" cap="none" dirty="0">
                <a:solidFill>
                  <a:schemeClr val="bg1"/>
                </a:solidFill>
                <a:latin typeface="Times New Roman" panose="02020603050405020304" pitchFamily="18" charset="0"/>
                <a:cs typeface="Times New Roman" panose="02020603050405020304" pitchFamily="18" charset="0"/>
              </a:rPr>
              <a:t>) در اختیار قرار داده است.</a:t>
            </a:r>
            <a:br>
              <a:rPr lang="fa-IR" sz="2400" b="1" cap="none" dirty="0">
                <a:solidFill>
                  <a:schemeClr val="bg1"/>
                </a:solidFill>
                <a:latin typeface="Times New Roman" panose="02020603050405020304" pitchFamily="18" charset="0"/>
                <a:cs typeface="Times New Roman" panose="02020603050405020304" pitchFamily="18" charset="0"/>
              </a:rPr>
            </a:br>
            <a:r>
              <a:rPr lang="fa-IR" sz="2400" b="1" cap="none" dirty="0">
                <a:solidFill>
                  <a:schemeClr val="bg1"/>
                </a:solidFill>
                <a:latin typeface="Times New Roman" panose="02020603050405020304" pitchFamily="18" charset="0"/>
                <a:cs typeface="Times New Roman" panose="02020603050405020304" pitchFamily="18" charset="0"/>
              </a:rPr>
              <a:t>کرنل خواسته های کاربران را بواسطه "تماس های سیستم" </a:t>
            </a:r>
            <a:r>
              <a:rPr lang="en-US" sz="2400" b="1" cap="none" dirty="0">
                <a:solidFill>
                  <a:schemeClr val="bg1"/>
                </a:solidFill>
                <a:latin typeface="Times New Roman" panose="02020603050405020304" pitchFamily="18" charset="0"/>
                <a:cs typeface="Times New Roman" panose="02020603050405020304" pitchFamily="18" charset="0"/>
              </a:rPr>
              <a:t>(System Calls)</a:t>
            </a:r>
            <a:r>
              <a:rPr lang="fa-IR" sz="2400" b="1" cap="none" dirty="0">
                <a:solidFill>
                  <a:schemeClr val="bg1"/>
                </a:solidFill>
                <a:latin typeface="Times New Roman" panose="02020603050405020304" pitchFamily="18" charset="0"/>
                <a:cs typeface="Times New Roman" panose="02020603050405020304" pitchFamily="18" charset="0"/>
              </a:rPr>
              <a:t> که فرایند ها را از فضای کاربر به فضای کرنل انتقال میدهند مدیریت میکند (عکس 1.1) هر بار که یک فرایند کاربر (</a:t>
            </a:r>
            <a:r>
              <a:rPr lang="en-US" sz="2400" b="1" cap="none" dirty="0">
                <a:solidFill>
                  <a:schemeClr val="bg1"/>
                </a:solidFill>
                <a:latin typeface="Times New Roman" panose="02020603050405020304" pitchFamily="18" charset="0"/>
                <a:cs typeface="Times New Roman" panose="02020603050405020304" pitchFamily="18" charset="0"/>
              </a:rPr>
              <a:t>(User Process</a:t>
            </a:r>
            <a:r>
              <a:rPr lang="fa-IR" sz="2400" b="1" cap="none" dirty="0">
                <a:solidFill>
                  <a:schemeClr val="bg1"/>
                </a:solidFill>
                <a:latin typeface="Times New Roman" panose="02020603050405020304" pitchFamily="18" charset="0"/>
                <a:cs typeface="Times New Roman" panose="02020603050405020304" pitchFamily="18" charset="0"/>
              </a:rPr>
              <a:t> ،یک </a:t>
            </a:r>
            <a:r>
              <a:rPr lang="en-US" sz="2400" b="1" cap="none" dirty="0">
                <a:solidFill>
                  <a:schemeClr val="bg1"/>
                </a:solidFill>
                <a:latin typeface="Times New Roman" panose="02020603050405020304" pitchFamily="18" charset="0"/>
                <a:cs typeface="Times New Roman" panose="02020603050405020304" pitchFamily="18" charset="0"/>
              </a:rPr>
              <a:t> System Call</a:t>
            </a:r>
            <a:r>
              <a:rPr lang="fa-IR" sz="2400" b="1" cap="none" dirty="0">
                <a:solidFill>
                  <a:schemeClr val="bg1"/>
                </a:solidFill>
                <a:latin typeface="Times New Roman" panose="02020603050405020304" pitchFamily="18" charset="0"/>
                <a:cs typeface="Times New Roman" panose="02020603050405020304" pitchFamily="18" charset="0"/>
              </a:rPr>
              <a:t>مانند </a:t>
            </a:r>
            <a:r>
              <a:rPr lang="en-US" sz="2400" b="1" cap="none" dirty="0">
                <a:solidFill>
                  <a:schemeClr val="bg1"/>
                </a:solidFill>
                <a:latin typeface="Times New Roman" panose="02020603050405020304" pitchFamily="18" charset="0"/>
                <a:cs typeface="Times New Roman" panose="02020603050405020304" pitchFamily="18" charset="0"/>
              </a:rPr>
              <a:t>read ()</a:t>
            </a:r>
            <a:r>
              <a:rPr lang="fa-IR" sz="2400" b="1" cap="none" dirty="0">
                <a:solidFill>
                  <a:schemeClr val="bg1"/>
                </a:solidFill>
                <a:latin typeface="Times New Roman" panose="02020603050405020304" pitchFamily="18" charset="0"/>
                <a:cs typeface="Times New Roman" panose="02020603050405020304" pitchFamily="18" charset="0"/>
              </a:rPr>
              <a:t> ، </a:t>
            </a:r>
            <a:r>
              <a:rPr lang="en-US" sz="2400" b="1" cap="none" dirty="0">
                <a:solidFill>
                  <a:schemeClr val="bg1"/>
                </a:solidFill>
                <a:latin typeface="Times New Roman" panose="02020603050405020304" pitchFamily="18" charset="0"/>
                <a:cs typeface="Times New Roman" panose="02020603050405020304" pitchFamily="18" charset="0"/>
              </a:rPr>
              <a:t>fork ()</a:t>
            </a:r>
            <a:r>
              <a:rPr lang="fa-IR" sz="2400" b="1" cap="none" dirty="0">
                <a:solidFill>
                  <a:schemeClr val="bg1"/>
                </a:solidFill>
                <a:latin typeface="Times New Roman" panose="02020603050405020304" pitchFamily="18" charset="0"/>
                <a:cs typeface="Times New Roman" panose="02020603050405020304" pitchFamily="18" charset="0"/>
              </a:rPr>
              <a:t> ، </a:t>
            </a:r>
            <a:r>
              <a:rPr lang="en-US" sz="2400" b="1" cap="none" dirty="0">
                <a:solidFill>
                  <a:schemeClr val="bg1"/>
                </a:solidFill>
                <a:latin typeface="Times New Roman" panose="02020603050405020304" pitchFamily="18" charset="0"/>
                <a:cs typeface="Times New Roman" panose="02020603050405020304" pitchFamily="18" charset="0"/>
              </a:rPr>
              <a:t>exec ()</a:t>
            </a:r>
            <a:r>
              <a:rPr lang="fa-IR" sz="2400" b="1" cap="none" dirty="0">
                <a:solidFill>
                  <a:schemeClr val="bg1"/>
                </a:solidFill>
                <a:latin typeface="Times New Roman" panose="02020603050405020304" pitchFamily="18" charset="0"/>
                <a:cs typeface="Times New Roman" panose="02020603050405020304" pitchFamily="18" charset="0"/>
              </a:rPr>
              <a:t> ، </a:t>
            </a:r>
            <a:r>
              <a:rPr lang="en-US" sz="2400" b="1" cap="none" dirty="0">
                <a:solidFill>
                  <a:schemeClr val="bg1"/>
                </a:solidFill>
                <a:latin typeface="Times New Roman" panose="02020603050405020304" pitchFamily="18" charset="0"/>
                <a:cs typeface="Times New Roman" panose="02020603050405020304" pitchFamily="18" charset="0"/>
              </a:rPr>
              <a:t>open ()</a:t>
            </a:r>
            <a:r>
              <a:rPr lang="fa-IR" sz="2400" b="1" cap="none" dirty="0">
                <a:solidFill>
                  <a:schemeClr val="bg1"/>
                </a:solidFill>
                <a:latin typeface="Times New Roman" panose="02020603050405020304" pitchFamily="18" charset="0"/>
                <a:cs typeface="Times New Roman" panose="02020603050405020304" pitchFamily="18" charset="0"/>
              </a:rPr>
              <a:t> و ... میفرستد، فرایند</a:t>
            </a:r>
            <a:r>
              <a:rPr lang="en-US" sz="2400" b="1" cap="none" dirty="0">
                <a:solidFill>
                  <a:schemeClr val="bg1"/>
                </a:solidFill>
                <a:latin typeface="Times New Roman" panose="02020603050405020304" pitchFamily="18" charset="0"/>
                <a:cs typeface="Times New Roman" panose="02020603050405020304" pitchFamily="18" charset="0"/>
              </a:rPr>
              <a:t> </a:t>
            </a:r>
            <a:r>
              <a:rPr lang="fa-IR" sz="2400" b="1" cap="none" dirty="0">
                <a:solidFill>
                  <a:schemeClr val="bg1"/>
                </a:solidFill>
                <a:latin typeface="Times New Roman" panose="02020603050405020304" pitchFamily="18" charset="0"/>
                <a:cs typeface="Times New Roman" panose="02020603050405020304" pitchFamily="18" charset="0"/>
              </a:rPr>
              <a:t> کاربر دچار یک تغییر موقعیتی </a:t>
            </a:r>
            <a:r>
              <a:rPr lang="en-US" sz="2400" b="1" cap="none" dirty="0">
                <a:solidFill>
                  <a:schemeClr val="bg1"/>
                </a:solidFill>
                <a:latin typeface="Times New Roman" panose="02020603050405020304" pitchFamily="18" charset="0"/>
                <a:cs typeface="Times New Roman" panose="02020603050405020304" pitchFamily="18" charset="0"/>
              </a:rPr>
              <a:t>(Context Switch)</a:t>
            </a:r>
            <a:r>
              <a:rPr lang="fa-IR" sz="2400" b="1" cap="none" dirty="0">
                <a:solidFill>
                  <a:schemeClr val="bg1"/>
                </a:solidFill>
                <a:latin typeface="Times New Roman" panose="02020603050405020304" pitchFamily="18" charset="0"/>
                <a:cs typeface="Times New Roman" panose="02020603050405020304" pitchFamily="18" charset="0"/>
              </a:rPr>
              <a:t> میشود."تغییر موقعیت" مکانیزمی است که در آن یک فرایند از یک حالت به حالتی دیگر تغییر میکند.فرایند ممکن است یا تا زمان کامل شدن </a:t>
            </a:r>
            <a:r>
              <a:rPr lang="en-US" sz="2400" b="1" cap="none" dirty="0">
                <a:solidFill>
                  <a:schemeClr val="bg1"/>
                </a:solidFill>
                <a:latin typeface="Times New Roman" panose="02020603050405020304" pitchFamily="18" charset="0"/>
                <a:cs typeface="Times New Roman" panose="02020603050405020304" pitchFamily="18" charset="0"/>
              </a:rPr>
              <a:t>System Call</a:t>
            </a:r>
            <a:r>
              <a:rPr lang="fa-IR" sz="2400" b="1" cap="none" dirty="0">
                <a:solidFill>
                  <a:schemeClr val="bg1"/>
                </a:solidFill>
                <a:latin typeface="Times New Roman" panose="02020603050405020304" pitchFamily="18" charset="0"/>
                <a:cs typeface="Times New Roman" panose="02020603050405020304" pitchFamily="18" charset="0"/>
              </a:rPr>
              <a:t> متوقف شود</a:t>
            </a:r>
            <a:r>
              <a:rPr lang="en-US" sz="2400" b="1" cap="none" dirty="0">
                <a:solidFill>
                  <a:schemeClr val="bg1"/>
                </a:solidFill>
                <a:latin typeface="Times New Roman" panose="02020603050405020304" pitchFamily="18" charset="0"/>
                <a:cs typeface="Times New Roman" panose="02020603050405020304" pitchFamily="18" charset="0"/>
              </a:rPr>
              <a:t> </a:t>
            </a:r>
            <a:r>
              <a:rPr lang="fa-IR" sz="2400" b="1" cap="none" dirty="0">
                <a:solidFill>
                  <a:schemeClr val="bg1"/>
                </a:solidFill>
                <a:latin typeface="Times New Roman" panose="02020603050405020304" pitchFamily="18" charset="0"/>
                <a:cs typeface="Times New Roman" panose="02020603050405020304" pitchFamily="18" charset="0"/>
              </a:rPr>
              <a:t>و یا ممکن است ادامه پیدا کند و مدتی بعد توسط یک سیگنال از کامل شدن </a:t>
            </a:r>
            <a:r>
              <a:rPr lang="en-US" sz="2400" b="1" cap="none" dirty="0">
                <a:solidFill>
                  <a:schemeClr val="bg1"/>
                </a:solidFill>
                <a:latin typeface="Times New Roman" panose="02020603050405020304" pitchFamily="18" charset="0"/>
                <a:cs typeface="Times New Roman" panose="02020603050405020304" pitchFamily="18" charset="0"/>
              </a:rPr>
              <a:t>System Call</a:t>
            </a:r>
            <a:r>
              <a:rPr lang="fa-IR" sz="2400" b="1" cap="none" dirty="0">
                <a:solidFill>
                  <a:schemeClr val="bg1"/>
                </a:solidFill>
                <a:latin typeface="Times New Roman" panose="02020603050405020304" pitchFamily="18" charset="0"/>
                <a:cs typeface="Times New Roman" panose="02020603050405020304" pitchFamily="18" charset="0"/>
              </a:rPr>
              <a:t> مطلع شود</a:t>
            </a:r>
            <a:br>
              <a:rPr lang="fa-IR" sz="2400" b="1" cap="none" dirty="0">
                <a:solidFill>
                  <a:schemeClr val="bg1"/>
                </a:solidFill>
                <a:latin typeface="Times New Roman" panose="02020603050405020304" pitchFamily="18" charset="0"/>
                <a:cs typeface="Times New Roman" panose="02020603050405020304" pitchFamily="18" charset="0"/>
              </a:rPr>
            </a:br>
            <a:r>
              <a:rPr lang="fa-IR" sz="2400" b="1" cap="none" dirty="0">
                <a:solidFill>
                  <a:schemeClr val="bg1"/>
                </a:solidFill>
                <a:latin typeface="Times New Roman" panose="02020603050405020304" pitchFamily="18" charset="0"/>
                <a:cs typeface="Times New Roman" panose="02020603050405020304" pitchFamily="18" charset="0"/>
              </a:rPr>
              <a:t> (عکس 1.2 مثالی از یک تغییر موقعیت را نمایش میدهد)</a:t>
            </a:r>
            <a:endParaRPr lang="fa-IR" sz="24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4446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45982CF-7B56-46F6-8F3B-EA0E309B02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097802" cy="6853562"/>
          </a:xfrm>
          <a:prstGeom prst="rect">
            <a:avLst/>
          </a:prstGeom>
        </p:spPr>
      </p:pic>
      <p:sp>
        <p:nvSpPr>
          <p:cNvPr id="7" name="TextBox 6">
            <a:extLst>
              <a:ext uri="{FF2B5EF4-FFF2-40B4-BE49-F238E27FC236}">
                <a16:creationId xmlns:a16="http://schemas.microsoft.com/office/drawing/2014/main" id="{C0CC4C88-C350-42EB-A35D-3536981EA8CB}"/>
              </a:ext>
            </a:extLst>
          </p:cNvPr>
          <p:cNvSpPr txBox="1"/>
          <p:nvPr/>
        </p:nvSpPr>
        <p:spPr>
          <a:xfrm>
            <a:off x="3048000" y="-171078"/>
            <a:ext cx="6096000" cy="769441"/>
          </a:xfrm>
          <a:prstGeom prst="rect">
            <a:avLst/>
          </a:prstGeom>
          <a:noFill/>
        </p:spPr>
        <p:txBody>
          <a:bodyPr wrap="square" rtlCol="1">
            <a:spAutoFit/>
          </a:bodyPr>
          <a:lstStyle/>
          <a:p>
            <a:pPr algn="ctr"/>
            <a:r>
              <a:rPr lang="fa-IR" sz="4400" b="1" dirty="0">
                <a:solidFill>
                  <a:srgbClr val="FF0000"/>
                </a:solidFill>
              </a:rPr>
              <a:t>1.1</a:t>
            </a:r>
            <a:endParaRPr lang="fa-IR" sz="3200" b="1" dirty="0">
              <a:solidFill>
                <a:srgbClr val="FF0000"/>
              </a:solidFill>
            </a:endParaRPr>
          </a:p>
        </p:txBody>
      </p:sp>
    </p:spTree>
    <p:extLst>
      <p:ext uri="{BB962C8B-B14F-4D97-AF65-F5344CB8AC3E}">
        <p14:creationId xmlns:p14="http://schemas.microsoft.com/office/powerpoint/2010/main" val="2197021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0CC4C88-C350-42EB-A35D-3536981EA8CB}"/>
              </a:ext>
            </a:extLst>
          </p:cNvPr>
          <p:cNvSpPr txBox="1"/>
          <p:nvPr/>
        </p:nvSpPr>
        <p:spPr>
          <a:xfrm>
            <a:off x="3048000" y="-171078"/>
            <a:ext cx="6096000" cy="769441"/>
          </a:xfrm>
          <a:prstGeom prst="rect">
            <a:avLst/>
          </a:prstGeom>
          <a:noFill/>
        </p:spPr>
        <p:txBody>
          <a:bodyPr wrap="square" rtlCol="1">
            <a:spAutoFit/>
          </a:bodyPr>
          <a:lstStyle/>
          <a:p>
            <a:pPr algn="ctr"/>
            <a:r>
              <a:rPr lang="fa-IR" sz="4400" b="1" dirty="0">
                <a:solidFill>
                  <a:srgbClr val="FF0000"/>
                </a:solidFill>
              </a:rPr>
              <a:t>1.2</a:t>
            </a:r>
            <a:endParaRPr lang="fa-IR" sz="3200" b="1" dirty="0">
              <a:solidFill>
                <a:srgbClr val="FF0000"/>
              </a:solidFill>
            </a:endParaRPr>
          </a:p>
        </p:txBody>
      </p:sp>
      <p:pic>
        <p:nvPicPr>
          <p:cNvPr id="2" name="Picture 1">
            <a:extLst>
              <a:ext uri="{FF2B5EF4-FFF2-40B4-BE49-F238E27FC236}">
                <a16:creationId xmlns:a16="http://schemas.microsoft.com/office/drawing/2014/main" id="{D68C8F2A-393C-4CB4-82B1-1DED067B4C76}"/>
              </a:ext>
            </a:extLst>
          </p:cNvPr>
          <p:cNvPicPr>
            <a:picLocks noChangeAspect="1"/>
          </p:cNvPicPr>
          <p:nvPr/>
        </p:nvPicPr>
        <p:blipFill>
          <a:blip r:embed="rId2"/>
          <a:stretch>
            <a:fillRect/>
          </a:stretch>
        </p:blipFill>
        <p:spPr>
          <a:xfrm>
            <a:off x="0" y="393192"/>
            <a:ext cx="12192000" cy="6464809"/>
          </a:xfrm>
          <a:prstGeom prst="rect">
            <a:avLst/>
          </a:prstGeom>
        </p:spPr>
      </p:pic>
    </p:spTree>
    <p:extLst>
      <p:ext uri="{BB962C8B-B14F-4D97-AF65-F5344CB8AC3E}">
        <p14:creationId xmlns:p14="http://schemas.microsoft.com/office/powerpoint/2010/main" val="2901059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تماس سیستم </a:t>
            </a:r>
            <a:r>
              <a:rPr lang="en-US" sz="5400" b="1" cap="none" dirty="0"/>
              <a:t>read ()</a:t>
            </a:r>
            <a:r>
              <a:rPr lang="fa-IR" sz="5400" b="1" dirty="0"/>
              <a:t> و تاثیر  </a:t>
            </a:r>
            <a:r>
              <a:rPr lang="en-US" sz="5400" b="1" cap="none" dirty="0"/>
              <a:t>System Call</a:t>
            </a:r>
            <a:r>
              <a:rPr lang="fa-IR" sz="5400" b="1" cap="none" dirty="0"/>
              <a:t> ها بر راندمان</a:t>
            </a:r>
            <a:r>
              <a:rPr lang="fa-IR" sz="5400" b="1" dirty="0"/>
              <a:t> :</a:t>
            </a:r>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101799"/>
            <a:ext cx="11283519" cy="3307879"/>
          </a:xfrm>
        </p:spPr>
        <p:txBody>
          <a:bodyPr>
            <a:normAutofit lnSpcReduction="10000"/>
          </a:bodyPr>
          <a:lstStyle/>
          <a:p>
            <a:pPr algn="r"/>
            <a:r>
              <a:rPr lang="fa-IR" sz="2800" b="1" dirty="0">
                <a:solidFill>
                  <a:schemeClr val="bg1"/>
                </a:solidFill>
                <a:latin typeface="Times New Roman" panose="02020603050405020304" pitchFamily="18" charset="0"/>
                <a:cs typeface="Times New Roman" panose="02020603050405020304" pitchFamily="18" charset="0"/>
              </a:rPr>
              <a:t>شکل 1.2 یک فرایند کاربری را در حال فرستادن یک </a:t>
            </a:r>
            <a:r>
              <a:rPr lang="en-US" sz="2800" b="1" dirty="0">
                <a:solidFill>
                  <a:schemeClr val="bg1"/>
                </a:solidFill>
                <a:latin typeface="Times New Roman" panose="02020603050405020304" pitchFamily="18" charset="0"/>
                <a:cs typeface="Times New Roman" panose="02020603050405020304" pitchFamily="18" charset="0"/>
              </a:rPr>
              <a:t>S</a:t>
            </a:r>
            <a:r>
              <a:rPr lang="en-US" sz="2800" b="1" cap="none" dirty="0">
                <a:solidFill>
                  <a:schemeClr val="bg1"/>
                </a:solidFill>
                <a:latin typeface="Times New Roman" panose="02020603050405020304" pitchFamily="18" charset="0"/>
                <a:cs typeface="Times New Roman" panose="02020603050405020304" pitchFamily="18" charset="0"/>
              </a:rPr>
              <a:t>ystem Call</a:t>
            </a:r>
            <a:r>
              <a:rPr lang="fa-IR" sz="2800" b="1" cap="none" dirty="0">
                <a:solidFill>
                  <a:schemeClr val="bg1"/>
                </a:solidFill>
                <a:latin typeface="Times New Roman" panose="02020603050405020304" pitchFamily="18" charset="0"/>
                <a:cs typeface="Times New Roman" panose="02020603050405020304" pitchFamily="18" charset="0"/>
              </a:rPr>
              <a:t> نشان میدهد که در این تصویر </a:t>
            </a:r>
            <a:r>
              <a:rPr lang="en-US" sz="2800" b="1" cap="none" dirty="0">
                <a:solidFill>
                  <a:schemeClr val="bg1"/>
                </a:solidFill>
                <a:latin typeface="Times New Roman" panose="02020603050405020304" pitchFamily="18" charset="0"/>
                <a:cs typeface="Times New Roman" panose="02020603050405020304" pitchFamily="18" charset="0"/>
              </a:rPr>
              <a:t>System Call </a:t>
            </a:r>
            <a:r>
              <a:rPr lang="fa-IR" sz="2800" b="1" cap="none" dirty="0">
                <a:solidFill>
                  <a:schemeClr val="bg1"/>
                </a:solidFill>
                <a:latin typeface="Times New Roman" panose="02020603050405020304" pitchFamily="18" charset="0"/>
                <a:cs typeface="Times New Roman" panose="02020603050405020304" pitchFamily="18" charset="0"/>
              </a:rPr>
              <a:t> مورد نظر </a:t>
            </a:r>
            <a:r>
              <a:rPr lang="en-US" sz="2800" b="1" cap="none" dirty="0">
                <a:solidFill>
                  <a:schemeClr val="bg1"/>
                </a:solidFill>
                <a:latin typeface="Times New Roman" panose="02020603050405020304" pitchFamily="18" charset="0"/>
                <a:cs typeface="Times New Roman" panose="02020603050405020304" pitchFamily="18" charset="0"/>
              </a:rPr>
              <a:t>read ()</a:t>
            </a:r>
            <a:r>
              <a:rPr lang="fa-IR" sz="2800" b="1" cap="none" dirty="0">
                <a:solidFill>
                  <a:schemeClr val="bg1"/>
                </a:solidFill>
                <a:latin typeface="Times New Roman" panose="02020603050405020304" pitchFamily="18" charset="0"/>
                <a:cs typeface="Times New Roman" panose="02020603050405020304" pitchFamily="18" charset="0"/>
              </a:rPr>
              <a:t> میباشد،این </a:t>
            </a:r>
            <a:r>
              <a:rPr lang="en-US" sz="2800" b="1" cap="none" dirty="0">
                <a:solidFill>
                  <a:schemeClr val="bg1"/>
                </a:solidFill>
                <a:latin typeface="Times New Roman" panose="02020603050405020304" pitchFamily="18" charset="0"/>
                <a:cs typeface="Times New Roman" panose="02020603050405020304" pitchFamily="18" charset="0"/>
              </a:rPr>
              <a:t>System Call</a:t>
            </a:r>
            <a:r>
              <a:rPr lang="fa-IR" sz="2800" b="1" cap="none" dirty="0">
                <a:solidFill>
                  <a:schemeClr val="bg1"/>
                </a:solidFill>
                <a:latin typeface="Times New Roman" panose="02020603050405020304" pitchFamily="18" charset="0"/>
                <a:cs typeface="Times New Roman" panose="02020603050405020304" pitchFamily="18" charset="0"/>
              </a:rPr>
              <a:t> یک توصیفگر فایل </a:t>
            </a:r>
            <a:r>
              <a:rPr lang="en-US" sz="2800" b="1" cap="none" dirty="0">
                <a:solidFill>
                  <a:schemeClr val="bg1"/>
                </a:solidFill>
                <a:latin typeface="Times New Roman" panose="02020603050405020304" pitchFamily="18" charset="0"/>
                <a:cs typeface="Times New Roman" panose="02020603050405020304" pitchFamily="18" charset="0"/>
              </a:rPr>
              <a:t>(File Descriptor)</a:t>
            </a:r>
            <a:r>
              <a:rPr lang="fa-IR" sz="2800" b="1" cap="none" dirty="0">
                <a:solidFill>
                  <a:schemeClr val="bg1"/>
                </a:solidFill>
                <a:latin typeface="Times New Roman" panose="02020603050405020304" pitchFamily="18" charset="0"/>
                <a:cs typeface="Times New Roman" panose="02020603050405020304" pitchFamily="18" charset="0"/>
              </a:rPr>
              <a:t>،حافظه میانگیر </a:t>
            </a:r>
            <a:r>
              <a:rPr lang="en-US" sz="2800" b="1" cap="none" dirty="0">
                <a:solidFill>
                  <a:schemeClr val="bg1"/>
                </a:solidFill>
                <a:latin typeface="Times New Roman" panose="02020603050405020304" pitchFamily="18" charset="0"/>
                <a:cs typeface="Times New Roman" panose="02020603050405020304" pitchFamily="18" charset="0"/>
              </a:rPr>
              <a:t>(Buffer)</a:t>
            </a:r>
            <a:r>
              <a:rPr lang="fa-IR" sz="2800" b="1" cap="none" dirty="0">
                <a:solidFill>
                  <a:schemeClr val="bg1"/>
                </a:solidFill>
                <a:latin typeface="Times New Roman" panose="02020603050405020304" pitchFamily="18" charset="0"/>
                <a:cs typeface="Times New Roman" panose="02020603050405020304" pitchFamily="18" charset="0"/>
              </a:rPr>
              <a:t> و تعداد بایت ها را میگیرد تا به عنوان آرگومان ها </a:t>
            </a:r>
            <a:r>
              <a:rPr lang="en-US" sz="2800" b="1" cap="none" dirty="0">
                <a:solidFill>
                  <a:schemeClr val="bg1"/>
                </a:solidFill>
                <a:latin typeface="Times New Roman" panose="02020603050405020304" pitchFamily="18" charset="0"/>
                <a:cs typeface="Times New Roman" panose="02020603050405020304" pitchFamily="18" charset="0"/>
              </a:rPr>
              <a:t>(Arguments)</a:t>
            </a:r>
            <a:r>
              <a:rPr lang="fa-IR" sz="2800" b="1" cap="none" dirty="0">
                <a:solidFill>
                  <a:schemeClr val="bg1"/>
                </a:solidFill>
                <a:latin typeface="Times New Roman" panose="02020603050405020304" pitchFamily="18" charset="0"/>
                <a:cs typeface="Times New Roman" panose="02020603050405020304" pitchFamily="18" charset="0"/>
              </a:rPr>
              <a:t> آنها را بخواند. </a:t>
            </a:r>
            <a:r>
              <a:rPr lang="en-US" sz="2800" b="1" cap="none" dirty="0">
                <a:solidFill>
                  <a:schemeClr val="bg1"/>
                </a:solidFill>
                <a:latin typeface="Times New Roman" panose="02020603050405020304" pitchFamily="18" charset="0"/>
                <a:cs typeface="Times New Roman" panose="02020603050405020304" pitchFamily="18" charset="0"/>
              </a:rPr>
              <a:t>read ()</a:t>
            </a:r>
            <a:r>
              <a:rPr lang="fa-IR" sz="2800" b="1" cap="none" dirty="0">
                <a:solidFill>
                  <a:schemeClr val="bg1"/>
                </a:solidFill>
                <a:latin typeface="Times New Roman" panose="02020603050405020304" pitchFamily="18" charset="0"/>
                <a:cs typeface="Times New Roman" panose="02020603050405020304" pitchFamily="18" charset="0"/>
              </a:rPr>
              <a:t> فرایند کاربر را مجبور به توقف میکند تا مدت زمانی که باید سپری شود یا </a:t>
            </a:r>
            <a:r>
              <a:rPr lang="en-US" sz="2800" b="1" cap="none" dirty="0">
                <a:solidFill>
                  <a:schemeClr val="bg1"/>
                </a:solidFill>
                <a:latin typeface="Times New Roman" panose="02020603050405020304" pitchFamily="18" charset="0"/>
                <a:cs typeface="Times New Roman" panose="02020603050405020304" pitchFamily="18" charset="0"/>
              </a:rPr>
              <a:t>System Call</a:t>
            </a:r>
            <a:r>
              <a:rPr lang="fa-IR" sz="2800" b="1" cap="none" dirty="0">
                <a:solidFill>
                  <a:schemeClr val="bg1"/>
                </a:solidFill>
                <a:latin typeface="Times New Roman" panose="02020603050405020304" pitchFamily="18" charset="0"/>
                <a:cs typeface="Times New Roman" panose="02020603050405020304" pitchFamily="18" charset="0"/>
              </a:rPr>
              <a:t> کامل شود.با توجه به اینکه فرایند های کاربری و برنامه ها  در یونیکس با استفاده از </a:t>
            </a:r>
            <a:r>
              <a:rPr lang="en-US" sz="2800" b="1" cap="none" dirty="0">
                <a:solidFill>
                  <a:schemeClr val="bg1"/>
                </a:solidFill>
                <a:latin typeface="Times New Roman" panose="02020603050405020304" pitchFamily="18" charset="0"/>
                <a:cs typeface="Times New Roman" panose="02020603050405020304" pitchFamily="18" charset="0"/>
              </a:rPr>
              <a:t>System Call</a:t>
            </a:r>
            <a:r>
              <a:rPr lang="fa-IR" sz="2800" b="1" cap="none" dirty="0">
                <a:solidFill>
                  <a:schemeClr val="bg1"/>
                </a:solidFill>
                <a:latin typeface="Times New Roman" panose="02020603050405020304" pitchFamily="18" charset="0"/>
                <a:cs typeface="Times New Roman" panose="02020603050405020304" pitchFamily="18" charset="0"/>
              </a:rPr>
              <a:t> ها به منابع و خدمات مورد نیازشان دسترسی پیدا میکنند،بازدهی و راندمان آنها شدیدا تحت تاثیر نوع و تعداد </a:t>
            </a:r>
            <a:r>
              <a:rPr lang="en-US" sz="2800" b="1" cap="none" dirty="0">
                <a:solidFill>
                  <a:schemeClr val="bg1"/>
                </a:solidFill>
                <a:latin typeface="Times New Roman" panose="02020603050405020304" pitchFamily="18" charset="0"/>
                <a:cs typeface="Times New Roman" panose="02020603050405020304" pitchFamily="18" charset="0"/>
              </a:rPr>
              <a:t>System Call</a:t>
            </a:r>
            <a:r>
              <a:rPr lang="fa-IR" sz="2800" b="1" cap="none" dirty="0">
                <a:solidFill>
                  <a:schemeClr val="bg1"/>
                </a:solidFill>
                <a:latin typeface="Times New Roman" panose="02020603050405020304" pitchFamily="18" charset="0"/>
                <a:cs typeface="Times New Roman" panose="02020603050405020304" pitchFamily="18" charset="0"/>
              </a:rPr>
              <a:t>  هایی که از سوی آنها انجام میگیرد،میباشد.</a:t>
            </a:r>
            <a:endParaRPr lang="fa-IR"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43399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توضیحاتی بیشتر درمورد </a:t>
            </a:r>
            <a:r>
              <a:rPr lang="en-US" sz="5400" b="1" dirty="0"/>
              <a:t>System call</a:t>
            </a:r>
            <a:r>
              <a:rPr lang="fa-IR" sz="5400" b="1" dirty="0"/>
              <a:t>ها:</a:t>
            </a:r>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101799"/>
            <a:ext cx="11283519" cy="3307879"/>
          </a:xfrm>
        </p:spPr>
        <p:txBody>
          <a:bodyPr>
            <a:normAutofit fontScale="92500" lnSpcReduction="10000"/>
          </a:bodyPr>
          <a:lstStyle/>
          <a:p>
            <a:pPr algn="r"/>
            <a:r>
              <a:rPr lang="fa-IR" sz="2800" b="1" cap="none" dirty="0">
                <a:solidFill>
                  <a:schemeClr val="bg1"/>
                </a:solidFill>
                <a:latin typeface="Times New Roman" panose="02020603050405020304" pitchFamily="18" charset="0"/>
                <a:cs typeface="Times New Roman" panose="02020603050405020304" pitchFamily="18" charset="0"/>
              </a:rPr>
              <a:t>منابع کرنل از بعد تاثیر بر روی راندمان و بازدهی فرایند ها و برنامه ها بسیار پر خرج هستند و به همین دلیل باید برای به اوج رساندن راندمان برنامه/فرایند میزان استفاده از </a:t>
            </a:r>
            <a:r>
              <a:rPr lang="en-US" sz="2800" b="1" cap="none" dirty="0">
                <a:solidFill>
                  <a:schemeClr val="bg1"/>
                </a:solidFill>
                <a:latin typeface="Times New Roman" panose="02020603050405020304" pitchFamily="18" charset="0"/>
                <a:cs typeface="Times New Roman" panose="02020603050405020304" pitchFamily="18" charset="0"/>
              </a:rPr>
              <a:t>System Call </a:t>
            </a:r>
            <a:r>
              <a:rPr lang="fa-IR" sz="2800" b="1" cap="none" dirty="0">
                <a:solidFill>
                  <a:schemeClr val="bg1"/>
                </a:solidFill>
                <a:latin typeface="Times New Roman" panose="02020603050405020304" pitchFamily="18" charset="0"/>
                <a:cs typeface="Times New Roman" panose="02020603050405020304" pitchFamily="18" charset="0"/>
              </a:rPr>
              <a:t> ها را به حداقل رساند که نتیجه آن کاهش فضای کرنل و تمرکز روی فرایند کاربر در فضای کاربری میشود.با این وجود هنوز هم برخی اپلکیشن ها مانند یک "مدیریت پایگاه داده" </a:t>
            </a:r>
            <a:r>
              <a:rPr lang="en-US" sz="2800" b="1" cap="none" dirty="0">
                <a:solidFill>
                  <a:schemeClr val="bg1"/>
                </a:solidFill>
                <a:latin typeface="Times New Roman" panose="02020603050405020304" pitchFamily="18" charset="0"/>
                <a:cs typeface="Times New Roman" panose="02020603050405020304" pitchFamily="18" charset="0"/>
              </a:rPr>
              <a:t>(Database Management)</a:t>
            </a:r>
            <a:r>
              <a:rPr lang="fa-IR" sz="2800" b="1" cap="none" dirty="0">
                <a:solidFill>
                  <a:schemeClr val="bg1"/>
                </a:solidFill>
                <a:latin typeface="Times New Roman" panose="02020603050405020304" pitchFamily="18" charset="0"/>
                <a:cs typeface="Times New Roman" panose="02020603050405020304" pitchFamily="18" charset="0"/>
              </a:rPr>
              <a:t> که شدیدا روی </a:t>
            </a:r>
            <a:r>
              <a:rPr lang="en-US" sz="2800" b="1" cap="none" dirty="0">
                <a:solidFill>
                  <a:schemeClr val="bg1"/>
                </a:solidFill>
                <a:latin typeface="Times New Roman" panose="02020603050405020304" pitchFamily="18" charset="0"/>
                <a:cs typeface="Times New Roman" panose="02020603050405020304" pitchFamily="18" charset="0"/>
              </a:rPr>
              <a:t>I/O</a:t>
            </a:r>
            <a:r>
              <a:rPr lang="fa-IR" sz="2800" b="1" cap="none" dirty="0">
                <a:solidFill>
                  <a:schemeClr val="bg1"/>
                </a:solidFill>
                <a:latin typeface="Times New Roman" panose="02020603050405020304" pitchFamily="18" charset="0"/>
                <a:cs typeface="Times New Roman" panose="02020603050405020304" pitchFamily="18" charset="0"/>
              </a:rPr>
              <a:t> تکیه کرده،نمیتواند از </a:t>
            </a:r>
            <a:r>
              <a:rPr lang="en-US" sz="2800" b="1" cap="none" dirty="0">
                <a:solidFill>
                  <a:schemeClr val="bg1"/>
                </a:solidFill>
                <a:latin typeface="Times New Roman" panose="02020603050405020304" pitchFamily="18" charset="0"/>
                <a:cs typeface="Times New Roman" panose="02020603050405020304" pitchFamily="18" charset="0"/>
              </a:rPr>
              <a:t>System Call</a:t>
            </a:r>
            <a:r>
              <a:rPr lang="fa-IR" sz="2800" b="1" cap="none" dirty="0">
                <a:solidFill>
                  <a:schemeClr val="bg1"/>
                </a:solidFill>
                <a:latin typeface="Times New Roman" panose="02020603050405020304" pitchFamily="18" charset="0"/>
                <a:cs typeface="Times New Roman" panose="02020603050405020304" pitchFamily="18" charset="0"/>
              </a:rPr>
              <a:t> ها اجتناب کند.درچنین شرایطی هدف اصلی باید این باشد که به نحوی کرنل یونیکس و و سیستم را جوری تنظیم کنیم که به کامل و سریع ترین نحو ممکن به </a:t>
            </a:r>
            <a:r>
              <a:rPr lang="en-US" sz="2800" b="1" cap="none" dirty="0">
                <a:solidFill>
                  <a:schemeClr val="bg1"/>
                </a:solidFill>
                <a:latin typeface="Times New Roman" panose="02020603050405020304" pitchFamily="18" charset="0"/>
                <a:cs typeface="Times New Roman" panose="02020603050405020304" pitchFamily="18" charset="0"/>
              </a:rPr>
              <a:t>System Call</a:t>
            </a:r>
            <a:r>
              <a:rPr lang="fa-IR" sz="2800" b="1" cap="none" dirty="0">
                <a:solidFill>
                  <a:schemeClr val="bg1"/>
                </a:solidFill>
                <a:latin typeface="Times New Roman" panose="02020603050405020304" pitchFamily="18" charset="0"/>
                <a:cs typeface="Times New Roman" panose="02020603050405020304" pitchFamily="18" charset="0"/>
              </a:rPr>
              <a:t> ها پاسخ دهد تا منابع کرنل سریعتر آزاد شوند تا بتوانند پاسخ درخواست ها را با خدماتشان بدهند.به زبان ساده تر مهم ترین هدف اپلیکیشن باید این باشد که میزان زمان صرف شده در فضای کرنل را به حداقل ومیزان توان عملیاتی در فضای کاربری را به حداکثر برساند.</a:t>
            </a:r>
            <a:endParaRPr lang="fa-IR"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70747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تماس سیستم </a:t>
            </a:r>
            <a:r>
              <a:rPr lang="en-US" sz="5400" b="1" cap="none" dirty="0"/>
              <a:t>fork () </a:t>
            </a:r>
            <a:r>
              <a:rPr lang="fa-IR" sz="5400" b="1" cap="none" dirty="0"/>
              <a:t>:</a:t>
            </a:r>
            <a:endParaRPr lang="fa-IR" sz="5400" b="1" dirty="0"/>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101799"/>
            <a:ext cx="11283519" cy="3307879"/>
          </a:xfrm>
        </p:spPr>
        <p:txBody>
          <a:bodyPr>
            <a:normAutofit/>
          </a:bodyPr>
          <a:lstStyle/>
          <a:p>
            <a:pPr algn="r"/>
            <a:r>
              <a:rPr lang="fa-IR" sz="2800" b="1" dirty="0">
                <a:solidFill>
                  <a:schemeClr val="bg1"/>
                </a:solidFill>
                <a:latin typeface="Times New Roman" panose="02020603050405020304" pitchFamily="18" charset="0"/>
                <a:cs typeface="Times New Roman" panose="02020603050405020304" pitchFamily="18" charset="0"/>
              </a:rPr>
              <a:t>یکی از مهم ترین </a:t>
            </a:r>
            <a:r>
              <a:rPr lang="en-US" sz="2800" b="1" dirty="0">
                <a:solidFill>
                  <a:schemeClr val="bg1"/>
                </a:solidFill>
                <a:latin typeface="Times New Roman" panose="02020603050405020304" pitchFamily="18" charset="0"/>
                <a:cs typeface="Times New Roman" panose="02020603050405020304" pitchFamily="18" charset="0"/>
              </a:rPr>
              <a:t>S</a:t>
            </a:r>
            <a:r>
              <a:rPr lang="en-US" sz="2800" b="1" cap="none" dirty="0">
                <a:solidFill>
                  <a:schemeClr val="bg1"/>
                </a:solidFill>
                <a:latin typeface="Times New Roman" panose="02020603050405020304" pitchFamily="18" charset="0"/>
                <a:cs typeface="Times New Roman" panose="02020603050405020304" pitchFamily="18" charset="0"/>
              </a:rPr>
              <a:t>ystem Call </a:t>
            </a:r>
            <a:r>
              <a:rPr lang="fa-IR" sz="2800" b="1" cap="none" dirty="0">
                <a:solidFill>
                  <a:schemeClr val="bg1"/>
                </a:solidFill>
                <a:latin typeface="Times New Roman" panose="02020603050405020304" pitchFamily="18" charset="0"/>
                <a:cs typeface="Times New Roman" panose="02020603050405020304" pitchFamily="18" charset="0"/>
              </a:rPr>
              <a:t>های اساسی در </a:t>
            </a:r>
            <a:r>
              <a:rPr lang="en-US" sz="2800" b="1" cap="none" dirty="0">
                <a:solidFill>
                  <a:schemeClr val="bg1"/>
                </a:solidFill>
                <a:latin typeface="Times New Roman" panose="02020603050405020304" pitchFamily="18" charset="0"/>
                <a:cs typeface="Times New Roman" panose="02020603050405020304" pitchFamily="18" charset="0"/>
              </a:rPr>
              <a:t>Unix</a:t>
            </a:r>
            <a:r>
              <a:rPr lang="fa-IR" sz="2800" b="1" cap="none" dirty="0">
                <a:solidFill>
                  <a:schemeClr val="bg1"/>
                </a:solidFill>
                <a:latin typeface="Times New Roman" panose="02020603050405020304" pitchFamily="18" charset="0"/>
                <a:cs typeface="Times New Roman" panose="02020603050405020304" pitchFamily="18" charset="0"/>
              </a:rPr>
              <a:t> ، </a:t>
            </a:r>
            <a:r>
              <a:rPr lang="en-US" sz="2800" b="1" cap="none" dirty="0">
                <a:solidFill>
                  <a:schemeClr val="bg1"/>
                </a:solidFill>
                <a:latin typeface="Times New Roman" panose="02020603050405020304" pitchFamily="18" charset="0"/>
                <a:cs typeface="Times New Roman" panose="02020603050405020304" pitchFamily="18" charset="0"/>
              </a:rPr>
              <a:t>fork ()</a:t>
            </a:r>
            <a:r>
              <a:rPr lang="fa-IR" sz="2800" b="1" cap="none" dirty="0">
                <a:solidFill>
                  <a:schemeClr val="bg1"/>
                </a:solidFill>
                <a:latin typeface="Times New Roman" panose="02020603050405020304" pitchFamily="18" charset="0"/>
                <a:cs typeface="Times New Roman" panose="02020603050405020304" pitchFamily="18" charset="0"/>
              </a:rPr>
              <a:t> میباشد. این </a:t>
            </a:r>
            <a:r>
              <a:rPr lang="en-US" sz="2800" b="1" cap="none" dirty="0">
                <a:solidFill>
                  <a:schemeClr val="bg1"/>
                </a:solidFill>
                <a:latin typeface="Times New Roman" panose="02020603050405020304" pitchFamily="18" charset="0"/>
                <a:cs typeface="Times New Roman" panose="02020603050405020304" pitchFamily="18" charset="0"/>
              </a:rPr>
              <a:t>System Call</a:t>
            </a:r>
            <a:r>
              <a:rPr lang="fa-IR" sz="2800" b="1" cap="none" dirty="0">
                <a:solidFill>
                  <a:schemeClr val="bg1"/>
                </a:solidFill>
                <a:latin typeface="Times New Roman" panose="02020603050405020304" pitchFamily="18" charset="0"/>
                <a:cs typeface="Times New Roman" panose="02020603050405020304" pitchFamily="18" charset="0"/>
              </a:rPr>
              <a:t> خود فرایند دیگری به نام فرایند فرزند </a:t>
            </a:r>
            <a:r>
              <a:rPr lang="en-US" sz="2800" b="1" cap="none" dirty="0">
                <a:solidFill>
                  <a:schemeClr val="bg1"/>
                </a:solidFill>
                <a:latin typeface="Times New Roman" panose="02020603050405020304" pitchFamily="18" charset="0"/>
                <a:cs typeface="Times New Roman" panose="02020603050405020304" pitchFamily="18" charset="0"/>
              </a:rPr>
              <a:t>(Child Process)</a:t>
            </a:r>
            <a:r>
              <a:rPr lang="fa-IR" sz="2800" b="1" cap="none" dirty="0">
                <a:solidFill>
                  <a:schemeClr val="bg1"/>
                </a:solidFill>
                <a:latin typeface="Times New Roman" panose="02020603050405020304" pitchFamily="18" charset="0"/>
                <a:cs typeface="Times New Roman" panose="02020603050405020304" pitchFamily="18" charset="0"/>
              </a:rPr>
              <a:t> میسازد در حالی که فرایندی که </a:t>
            </a:r>
            <a:r>
              <a:rPr lang="en-US" sz="2800" b="1" cap="none" dirty="0">
                <a:solidFill>
                  <a:schemeClr val="bg1"/>
                </a:solidFill>
                <a:latin typeface="Times New Roman" panose="02020603050405020304" pitchFamily="18" charset="0"/>
                <a:cs typeface="Times New Roman" panose="02020603050405020304" pitchFamily="18" charset="0"/>
              </a:rPr>
              <a:t>fork ()</a:t>
            </a:r>
            <a:r>
              <a:rPr lang="fa-IR" sz="2800" b="1" cap="none" dirty="0">
                <a:solidFill>
                  <a:schemeClr val="bg1"/>
                </a:solidFill>
                <a:latin typeface="Times New Roman" panose="02020603050405020304" pitchFamily="18" charset="0"/>
                <a:cs typeface="Times New Roman" panose="02020603050405020304" pitchFamily="18" charset="0"/>
              </a:rPr>
              <a:t> را میفرستد فرایند والد </a:t>
            </a:r>
            <a:r>
              <a:rPr lang="en-US" sz="2800" b="1" cap="none" dirty="0">
                <a:solidFill>
                  <a:schemeClr val="bg1"/>
                </a:solidFill>
                <a:latin typeface="Times New Roman" panose="02020603050405020304" pitchFamily="18" charset="0"/>
                <a:cs typeface="Times New Roman" panose="02020603050405020304" pitchFamily="18" charset="0"/>
              </a:rPr>
              <a:t>(Parent Process)</a:t>
            </a:r>
            <a:r>
              <a:rPr lang="fa-IR" sz="2800" b="1" cap="none" dirty="0">
                <a:solidFill>
                  <a:schemeClr val="bg1"/>
                </a:solidFill>
                <a:latin typeface="Times New Roman" panose="02020603050405020304" pitchFamily="18" charset="0"/>
                <a:cs typeface="Times New Roman" panose="02020603050405020304" pitchFamily="18" charset="0"/>
              </a:rPr>
              <a:t> میشود. سیستم کال </a:t>
            </a:r>
            <a:r>
              <a:rPr lang="en-US" sz="2800" b="1" cap="none" dirty="0">
                <a:solidFill>
                  <a:schemeClr val="bg1"/>
                </a:solidFill>
                <a:latin typeface="Times New Roman" panose="02020603050405020304" pitchFamily="18" charset="0"/>
                <a:cs typeface="Times New Roman" panose="02020603050405020304" pitchFamily="18" charset="0"/>
              </a:rPr>
              <a:t>fork ()</a:t>
            </a:r>
            <a:r>
              <a:rPr lang="fa-IR" sz="2800" b="1" cap="none" dirty="0">
                <a:solidFill>
                  <a:schemeClr val="bg1"/>
                </a:solidFill>
                <a:latin typeface="Times New Roman" panose="02020603050405020304" pitchFamily="18" charset="0"/>
                <a:cs typeface="Times New Roman" panose="02020603050405020304" pitchFamily="18" charset="0"/>
              </a:rPr>
              <a:t> یک کپی از تمام ساختار فرایند و فضای آدرس فرایند</a:t>
            </a:r>
            <a:r>
              <a:rPr kumimoji="0" lang="en-US" sz="2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 (Process Address Space) </a:t>
            </a:r>
            <a:r>
              <a:rPr lang="fa-IR" sz="2800" b="1" cap="none" dirty="0">
                <a:solidFill>
                  <a:schemeClr val="bg1"/>
                </a:solidFill>
                <a:latin typeface="Times New Roman" panose="02020603050405020304" pitchFamily="18" charset="0"/>
                <a:cs typeface="Times New Roman" panose="02020603050405020304" pitchFamily="18" charset="0"/>
              </a:rPr>
              <a:t>فضای والد میگیرد. فرایند فرزند خصوصیات کلاس کاری </a:t>
            </a:r>
            <a:r>
              <a:rPr lang="en-US" sz="2800" b="1" cap="none" dirty="0">
                <a:solidFill>
                  <a:schemeClr val="bg1"/>
                </a:solidFill>
                <a:latin typeface="Times New Roman" panose="02020603050405020304" pitchFamily="18" charset="0"/>
                <a:cs typeface="Times New Roman" panose="02020603050405020304" pitchFamily="18" charset="0"/>
              </a:rPr>
              <a:t>(Job Class)</a:t>
            </a:r>
            <a:r>
              <a:rPr lang="fa-IR" sz="2800" b="1" cap="none" dirty="0">
                <a:solidFill>
                  <a:schemeClr val="bg1"/>
                </a:solidFill>
                <a:latin typeface="Times New Roman" panose="02020603050405020304" pitchFamily="18" charset="0"/>
                <a:cs typeface="Times New Roman" panose="02020603050405020304" pitchFamily="18" charset="0"/>
              </a:rPr>
              <a:t> ، محیط فرایند و توصیفگر های فایلی که در فرایند والد باز بوده اند را به ارث میبرد. </a:t>
            </a:r>
            <a:endParaRPr lang="fa-IR"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2271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تماس سیستم </a:t>
            </a:r>
            <a:r>
              <a:rPr lang="en-US" sz="5400" b="1" cap="none" dirty="0"/>
              <a:t>fork () </a:t>
            </a:r>
            <a:r>
              <a:rPr lang="fa-IR" sz="5400" b="1" cap="none" dirty="0"/>
              <a:t>:</a:t>
            </a:r>
            <a:endParaRPr lang="fa-IR" sz="5400" b="1" dirty="0"/>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101799"/>
            <a:ext cx="11283519" cy="3307879"/>
          </a:xfrm>
        </p:spPr>
        <p:txBody>
          <a:bodyPr>
            <a:noAutofit/>
          </a:bodyPr>
          <a:lstStyle/>
          <a:p>
            <a:pPr algn="r"/>
            <a:r>
              <a:rPr lang="fa-IR" sz="2800" b="1" cap="none" dirty="0">
                <a:solidFill>
                  <a:schemeClr val="bg1"/>
                </a:solidFill>
                <a:latin typeface="Times New Roman" panose="02020603050405020304" pitchFamily="18" charset="0"/>
                <a:cs typeface="Times New Roman" panose="02020603050405020304" pitchFamily="18" charset="0"/>
              </a:rPr>
              <a:t>با استفاده از دستور </a:t>
            </a:r>
            <a:r>
              <a:rPr lang="en-US" sz="2800" b="1" cap="none" dirty="0" err="1">
                <a:solidFill>
                  <a:schemeClr val="bg1"/>
                </a:solidFill>
                <a:latin typeface="Times New Roman" panose="02020603050405020304" pitchFamily="18" charset="0"/>
                <a:cs typeface="Times New Roman" panose="02020603050405020304" pitchFamily="18" charset="0"/>
              </a:rPr>
              <a:t>ps</a:t>
            </a:r>
            <a:r>
              <a:rPr lang="en-US" sz="2800" b="1" cap="none" dirty="0">
                <a:solidFill>
                  <a:schemeClr val="bg1"/>
                </a:solidFill>
                <a:latin typeface="Times New Roman" panose="02020603050405020304" pitchFamily="18" charset="0"/>
                <a:cs typeface="Times New Roman" panose="02020603050405020304" pitchFamily="18" charset="0"/>
              </a:rPr>
              <a:t> –</a:t>
            </a:r>
            <a:r>
              <a:rPr lang="en-US" sz="2800" b="1" cap="none" dirty="0" err="1">
                <a:solidFill>
                  <a:schemeClr val="bg1"/>
                </a:solidFill>
                <a:latin typeface="Times New Roman" panose="02020603050405020304" pitchFamily="18" charset="0"/>
                <a:cs typeface="Times New Roman" panose="02020603050405020304" pitchFamily="18" charset="0"/>
              </a:rPr>
              <a:t>ef</a:t>
            </a:r>
            <a:r>
              <a:rPr lang="fa-IR" sz="2800" b="1" cap="none" dirty="0">
                <a:solidFill>
                  <a:schemeClr val="bg1"/>
                </a:solidFill>
                <a:latin typeface="Times New Roman" panose="02020603050405020304" pitchFamily="18" charset="0"/>
                <a:cs typeface="Times New Roman" panose="02020603050405020304" pitchFamily="18" charset="0"/>
              </a:rPr>
              <a:t> میتوان به </a:t>
            </a:r>
            <a:r>
              <a:rPr lang="en-US" sz="2800" b="1" cap="none" dirty="0">
                <a:solidFill>
                  <a:schemeClr val="bg1"/>
                </a:solidFill>
                <a:latin typeface="Times New Roman" panose="02020603050405020304" pitchFamily="18" charset="0"/>
                <a:cs typeface="Times New Roman" panose="02020603050405020304" pitchFamily="18" charset="0"/>
              </a:rPr>
              <a:t>ID</a:t>
            </a:r>
            <a:r>
              <a:rPr lang="fa-IR" sz="2800" b="1" cap="none" dirty="0">
                <a:solidFill>
                  <a:schemeClr val="bg1"/>
                </a:solidFill>
                <a:latin typeface="Times New Roman" panose="02020603050405020304" pitchFamily="18" charset="0"/>
                <a:cs typeface="Times New Roman" panose="02020603050405020304" pitchFamily="18" charset="0"/>
              </a:rPr>
              <a:t> فرایند والد رجوع کرد. </a:t>
            </a:r>
            <a:r>
              <a:rPr lang="en-US" sz="2800" b="1" cap="none" dirty="0">
                <a:solidFill>
                  <a:schemeClr val="bg1"/>
                </a:solidFill>
                <a:latin typeface="Times New Roman" panose="02020603050405020304" pitchFamily="18" charset="0"/>
                <a:cs typeface="Times New Roman" panose="02020603050405020304" pitchFamily="18" charset="0"/>
              </a:rPr>
              <a:t>fork ()</a:t>
            </a:r>
            <a:r>
              <a:rPr lang="fa-IR" sz="2800" b="1" cap="none" dirty="0">
                <a:solidFill>
                  <a:schemeClr val="bg1"/>
                </a:solidFill>
                <a:latin typeface="Times New Roman" panose="02020603050405020304" pitchFamily="18" charset="0"/>
                <a:cs typeface="Times New Roman" panose="02020603050405020304" pitchFamily="18" charset="0"/>
              </a:rPr>
              <a:t> یک فرایند را فعال میکند تا فرایند دیگری بسازد که خود این عمل میتواند به دو صورت همزمان و با صبر کردن برای فرایند فرزند و یا غیر همزمان و با ادامه دادن به اجرای فرایند والد انجام شود.این </a:t>
            </a:r>
            <a:r>
              <a:rPr lang="en-US" sz="2800" b="1" cap="none" dirty="0">
                <a:solidFill>
                  <a:schemeClr val="bg1"/>
                </a:solidFill>
                <a:latin typeface="Times New Roman" panose="02020603050405020304" pitchFamily="18" charset="0"/>
                <a:cs typeface="Times New Roman" panose="02020603050405020304" pitchFamily="18" charset="0"/>
              </a:rPr>
              <a:t>System Call</a:t>
            </a:r>
            <a:r>
              <a:rPr lang="fa-IR" sz="2800" b="1" cap="none" dirty="0">
                <a:solidFill>
                  <a:schemeClr val="bg1"/>
                </a:solidFill>
                <a:latin typeface="Times New Roman" panose="02020603050405020304" pitchFamily="18" charset="0"/>
                <a:cs typeface="Times New Roman" panose="02020603050405020304" pitchFamily="18" charset="0"/>
              </a:rPr>
              <a:t> هیچ آرگومانی نمیگیرد و یک عدد صحیح </a:t>
            </a:r>
            <a:r>
              <a:rPr lang="en-US" sz="2800" b="1" cap="none" dirty="0">
                <a:solidFill>
                  <a:schemeClr val="bg1"/>
                </a:solidFill>
                <a:latin typeface="Times New Roman" panose="02020603050405020304" pitchFamily="18" charset="0"/>
                <a:cs typeface="Times New Roman" panose="02020603050405020304" pitchFamily="18" charset="0"/>
              </a:rPr>
              <a:t>(Integer)</a:t>
            </a:r>
            <a:r>
              <a:rPr lang="fa-IR" sz="2800" b="1" cap="none" dirty="0">
                <a:solidFill>
                  <a:schemeClr val="bg1"/>
                </a:solidFill>
                <a:latin typeface="Times New Roman" panose="02020603050405020304" pitchFamily="18" charset="0"/>
                <a:cs typeface="Times New Roman" panose="02020603050405020304" pitchFamily="18" charset="0"/>
              </a:rPr>
              <a:t> پس میدهد. مقدار بازگشتی </a:t>
            </a:r>
            <a:r>
              <a:rPr lang="en-US" sz="2800" b="1" cap="none" dirty="0">
                <a:solidFill>
                  <a:schemeClr val="bg1"/>
                </a:solidFill>
                <a:latin typeface="Times New Roman" panose="02020603050405020304" pitchFamily="18" charset="0"/>
                <a:cs typeface="Times New Roman" panose="02020603050405020304" pitchFamily="18" charset="0"/>
              </a:rPr>
              <a:t>(Return Value)</a:t>
            </a:r>
            <a:r>
              <a:rPr lang="fa-IR" sz="2800" b="1" cap="none" dirty="0">
                <a:solidFill>
                  <a:schemeClr val="bg1"/>
                </a:solidFill>
                <a:latin typeface="Times New Roman" panose="02020603050405020304" pitchFamily="18" charset="0"/>
                <a:cs typeface="Times New Roman" panose="02020603050405020304" pitchFamily="18" charset="0"/>
              </a:rPr>
              <a:t> میتوان یکی از سه مقدار متفاوت زیر را در بر داشته باشد:</a:t>
            </a:r>
            <a:br>
              <a:rPr lang="fa-IR" sz="2800" b="1" cap="none" dirty="0">
                <a:solidFill>
                  <a:schemeClr val="bg1"/>
                </a:solidFill>
                <a:latin typeface="Times New Roman" panose="02020603050405020304" pitchFamily="18" charset="0"/>
                <a:cs typeface="Times New Roman" panose="02020603050405020304" pitchFamily="18" charset="0"/>
              </a:rPr>
            </a:br>
            <a:r>
              <a:rPr lang="fa-IR" sz="2800" b="1" cap="none" dirty="0">
                <a:solidFill>
                  <a:schemeClr val="bg1"/>
                </a:solidFill>
                <a:latin typeface="Times New Roman" panose="02020603050405020304" pitchFamily="18" charset="0"/>
                <a:cs typeface="Times New Roman" panose="02020603050405020304" pitchFamily="18" charset="0"/>
              </a:rPr>
              <a:t>1. </a:t>
            </a:r>
            <a:r>
              <a:rPr lang="en-US" sz="2800" b="1" cap="none" dirty="0">
                <a:solidFill>
                  <a:schemeClr val="bg1"/>
                </a:solidFill>
                <a:latin typeface="Times New Roman" panose="02020603050405020304" pitchFamily="18" charset="0"/>
                <a:cs typeface="Times New Roman" panose="02020603050405020304" pitchFamily="18" charset="0"/>
              </a:rPr>
              <a:t>0</a:t>
            </a:r>
            <a:r>
              <a:rPr lang="fa-IR" sz="2800" b="1" cap="none" dirty="0">
                <a:solidFill>
                  <a:schemeClr val="bg1"/>
                </a:solidFill>
                <a:latin typeface="Times New Roman" panose="02020603050405020304" pitchFamily="18" charset="0"/>
                <a:cs typeface="Times New Roman" panose="02020603050405020304" pitchFamily="18" charset="0"/>
              </a:rPr>
              <a:t>؛ به این معنی که تماس </a:t>
            </a:r>
            <a:r>
              <a:rPr lang="en-US" sz="2800" b="1" cap="none" dirty="0">
                <a:solidFill>
                  <a:schemeClr val="bg1"/>
                </a:solidFill>
                <a:latin typeface="Times New Roman" panose="02020603050405020304" pitchFamily="18" charset="0"/>
                <a:cs typeface="Times New Roman" panose="02020603050405020304" pitchFamily="18" charset="0"/>
              </a:rPr>
              <a:t>fork ()</a:t>
            </a:r>
            <a:r>
              <a:rPr lang="fa-IR" sz="2800" b="1" cap="none" dirty="0">
                <a:solidFill>
                  <a:schemeClr val="bg1"/>
                </a:solidFill>
                <a:latin typeface="Times New Roman" panose="02020603050405020304" pitchFamily="18" charset="0"/>
                <a:cs typeface="Times New Roman" panose="02020603050405020304" pitchFamily="18" charset="0"/>
              </a:rPr>
              <a:t> با موفقیت یک فرایند فرزند ساخته و </a:t>
            </a:r>
            <a:r>
              <a:rPr lang="en-US" sz="2800" b="1" cap="none" dirty="0">
                <a:solidFill>
                  <a:schemeClr val="bg1"/>
                </a:solidFill>
                <a:latin typeface="Times New Roman" panose="02020603050405020304" pitchFamily="18" charset="0"/>
                <a:cs typeface="Times New Roman" panose="02020603050405020304" pitchFamily="18" charset="0"/>
              </a:rPr>
              <a:t>0</a:t>
            </a:r>
            <a:r>
              <a:rPr lang="fa-IR" sz="2800" b="1" cap="none" dirty="0">
                <a:solidFill>
                  <a:schemeClr val="bg1"/>
                </a:solidFill>
                <a:latin typeface="Times New Roman" panose="02020603050405020304" pitchFamily="18" charset="0"/>
                <a:cs typeface="Times New Roman" panose="02020603050405020304" pitchFamily="18" charset="0"/>
              </a:rPr>
              <a:t> به فرایند فرزند داخل فرایند والد اشاره دارد.</a:t>
            </a:r>
            <a:br>
              <a:rPr lang="fa-IR" sz="2800" b="1" cap="none" dirty="0">
                <a:solidFill>
                  <a:schemeClr val="bg1"/>
                </a:solidFill>
                <a:latin typeface="Times New Roman" panose="02020603050405020304" pitchFamily="18" charset="0"/>
                <a:cs typeface="Times New Roman" panose="02020603050405020304" pitchFamily="18" charset="0"/>
              </a:rPr>
            </a:br>
            <a:endParaRPr lang="fa-IR"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419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تماس سیستم </a:t>
            </a:r>
            <a:r>
              <a:rPr lang="en-US" sz="5400" b="1" cap="none" dirty="0"/>
              <a:t>fork () </a:t>
            </a:r>
            <a:r>
              <a:rPr lang="fa-IR" sz="5400" b="1" cap="none" dirty="0"/>
              <a:t>:</a:t>
            </a:r>
            <a:endParaRPr lang="fa-IR" sz="5400" b="1" dirty="0"/>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101799"/>
            <a:ext cx="11283519" cy="3307879"/>
          </a:xfrm>
        </p:spPr>
        <p:txBody>
          <a:bodyPr>
            <a:normAutofit fontScale="92500" lnSpcReduction="10000"/>
          </a:bodyPr>
          <a:lstStyle/>
          <a:p>
            <a:pPr algn="r"/>
            <a:r>
              <a:rPr lang="fa-IR" sz="2800" b="1" cap="none" dirty="0">
                <a:solidFill>
                  <a:schemeClr val="bg1"/>
                </a:solidFill>
                <a:latin typeface="Times New Roman" panose="02020603050405020304" pitchFamily="18" charset="0"/>
                <a:cs typeface="Times New Roman" panose="02020603050405020304" pitchFamily="18" charset="0"/>
              </a:rPr>
              <a:t>2. </a:t>
            </a:r>
            <a:r>
              <a:rPr lang="en-US" sz="2800" b="1" cap="none" dirty="0">
                <a:solidFill>
                  <a:schemeClr val="bg1"/>
                </a:solidFill>
                <a:latin typeface="Times New Roman" panose="02020603050405020304" pitchFamily="18" charset="0"/>
                <a:cs typeface="Times New Roman" panose="02020603050405020304" pitchFamily="18" charset="0"/>
              </a:rPr>
              <a:t>-1</a:t>
            </a:r>
            <a:r>
              <a:rPr lang="fa-IR" sz="2800" b="1" cap="none" dirty="0">
                <a:solidFill>
                  <a:schemeClr val="bg1"/>
                </a:solidFill>
                <a:latin typeface="Times New Roman" panose="02020603050405020304" pitchFamily="18" charset="0"/>
                <a:cs typeface="Times New Roman" panose="02020603050405020304" pitchFamily="18" charset="0"/>
              </a:rPr>
              <a:t> ، به این معنی که سیستم نتوانسته است یک فرایند دیگر تولید کند. در این حالت شما میتوانید از سیستم کال </a:t>
            </a:r>
            <a:r>
              <a:rPr lang="en-US" sz="2800" b="1" cap="none" dirty="0" err="1">
                <a:solidFill>
                  <a:schemeClr val="bg1"/>
                </a:solidFill>
                <a:latin typeface="Times New Roman" panose="02020603050405020304" pitchFamily="18" charset="0"/>
                <a:cs typeface="Times New Roman" panose="02020603050405020304" pitchFamily="18" charset="0"/>
              </a:rPr>
              <a:t>perror</a:t>
            </a:r>
            <a:r>
              <a:rPr lang="en-US" sz="2800" b="1" cap="none" dirty="0">
                <a:solidFill>
                  <a:schemeClr val="bg1"/>
                </a:solidFill>
                <a:latin typeface="Times New Roman" panose="02020603050405020304" pitchFamily="18" charset="0"/>
                <a:cs typeface="Times New Roman" panose="02020603050405020304" pitchFamily="18" charset="0"/>
              </a:rPr>
              <a:t> ()</a:t>
            </a:r>
            <a:r>
              <a:rPr lang="fa-IR" sz="2800" b="1" cap="none" dirty="0">
                <a:solidFill>
                  <a:schemeClr val="bg1"/>
                </a:solidFill>
                <a:latin typeface="Times New Roman" panose="02020603050405020304" pitchFamily="18" charset="0"/>
                <a:cs typeface="Times New Roman" panose="02020603050405020304" pitchFamily="18" charset="0"/>
              </a:rPr>
              <a:t> استفاده کنید</a:t>
            </a:r>
            <a:r>
              <a:rPr lang="en-US" sz="2800" b="1" cap="none" dirty="0">
                <a:solidFill>
                  <a:schemeClr val="bg1"/>
                </a:solidFill>
                <a:latin typeface="Times New Roman" panose="02020603050405020304" pitchFamily="18" charset="0"/>
                <a:cs typeface="Times New Roman" panose="02020603050405020304" pitchFamily="18" charset="0"/>
              </a:rPr>
              <a:t> </a:t>
            </a:r>
            <a:r>
              <a:rPr lang="fa-IR" sz="2800" b="1" cap="none" dirty="0">
                <a:solidFill>
                  <a:schemeClr val="bg1"/>
                </a:solidFill>
                <a:latin typeface="Times New Roman" panose="02020603050405020304" pitchFamily="18" charset="0"/>
                <a:cs typeface="Times New Roman" panose="02020603050405020304" pitchFamily="18" charset="0"/>
              </a:rPr>
              <a:t> تا خروجی بگیرید از پیغام دقیق اروری که باعث شکست خوردن تماس </a:t>
            </a:r>
            <a:r>
              <a:rPr lang="en-US" sz="2800" b="1" cap="none" dirty="0">
                <a:solidFill>
                  <a:schemeClr val="bg1"/>
                </a:solidFill>
                <a:latin typeface="Times New Roman" panose="02020603050405020304" pitchFamily="18" charset="0"/>
                <a:cs typeface="Times New Roman" panose="02020603050405020304" pitchFamily="18" charset="0"/>
              </a:rPr>
              <a:t>fork ()</a:t>
            </a:r>
            <a:r>
              <a:rPr lang="fa-IR" sz="2800" b="1" cap="none" dirty="0">
                <a:solidFill>
                  <a:schemeClr val="bg1"/>
                </a:solidFill>
                <a:latin typeface="Times New Roman" panose="02020603050405020304" pitchFamily="18" charset="0"/>
                <a:cs typeface="Times New Roman" panose="02020603050405020304" pitchFamily="18" charset="0"/>
              </a:rPr>
              <a:t> شده است</a:t>
            </a:r>
            <a:br>
              <a:rPr lang="fa-IR" sz="2800" b="1" cap="none" dirty="0">
                <a:solidFill>
                  <a:schemeClr val="bg1"/>
                </a:solidFill>
                <a:latin typeface="Times New Roman" panose="02020603050405020304" pitchFamily="18" charset="0"/>
                <a:cs typeface="Times New Roman" panose="02020603050405020304" pitchFamily="18" charset="0"/>
              </a:rPr>
            </a:br>
            <a:r>
              <a:rPr lang="fa-IR" sz="2800" b="1" cap="none" dirty="0">
                <a:solidFill>
                  <a:schemeClr val="bg1"/>
                </a:solidFill>
                <a:latin typeface="Times New Roman" panose="02020603050405020304" pitchFamily="18" charset="0"/>
                <a:cs typeface="Times New Roman" panose="02020603050405020304" pitchFamily="18" charset="0"/>
              </a:rPr>
              <a:t>3. یک عدد پیشفرض صحیح بزرگتر از 0 که به فرایند والد بازگشته است که خود در برگیرنده </a:t>
            </a:r>
            <a:r>
              <a:rPr lang="en-US" sz="2800" b="1" cap="none" dirty="0">
                <a:solidFill>
                  <a:schemeClr val="bg1"/>
                </a:solidFill>
                <a:latin typeface="Times New Roman" panose="02020603050405020304" pitchFamily="18" charset="0"/>
                <a:cs typeface="Times New Roman" panose="02020603050405020304" pitchFamily="18" charset="0"/>
              </a:rPr>
              <a:t>ID</a:t>
            </a:r>
            <a:r>
              <a:rPr lang="fa-IR" sz="2800" b="1" cap="none" dirty="0">
                <a:solidFill>
                  <a:schemeClr val="bg1"/>
                </a:solidFill>
                <a:latin typeface="Times New Roman" panose="02020603050405020304" pitchFamily="18" charset="0"/>
                <a:cs typeface="Times New Roman" panose="02020603050405020304" pitchFamily="18" charset="0"/>
              </a:rPr>
              <a:t> فرایند والد میباشد.در این شرایط فرایند والد میتواند برای فرایند فرزند صبر کند  و توقف را تا زمان نابودی فرایند فرزند ادامه دهد یا  اینکه اجرا شدن را بدون صبر کردن برای فرایند والد ادامه دهد</a:t>
            </a:r>
            <a:r>
              <a:rPr lang="en-US" sz="2800" b="1" cap="none" dirty="0">
                <a:solidFill>
                  <a:schemeClr val="bg1"/>
                </a:solidFill>
                <a:latin typeface="Times New Roman" panose="02020603050405020304" pitchFamily="18" charset="0"/>
                <a:cs typeface="Times New Roman" panose="02020603050405020304" pitchFamily="18" charset="0"/>
              </a:rPr>
              <a:t>.</a:t>
            </a:r>
            <a:r>
              <a:rPr lang="fa-IR" sz="2800" b="1" cap="none" dirty="0">
                <a:solidFill>
                  <a:schemeClr val="bg1"/>
                </a:solidFill>
                <a:latin typeface="Times New Roman" panose="02020603050405020304" pitchFamily="18" charset="0"/>
                <a:cs typeface="Times New Roman" panose="02020603050405020304" pitchFamily="18" charset="0"/>
              </a:rPr>
              <a:t>این رخداد ها همزمان اتفاق نمی افتند و فرایند والد میتواند زمانی که فرایند فرزند از بین میرود مطلع شود،فرایند والد نیاز دارد تا یک بخش برای کد رسیدگی سیگنال ها بسازد تا بتواند سیگنال فرایند فرزند را به دام انداخته و آنرا ترجمه کند.</a:t>
            </a:r>
            <a:endParaRPr lang="fa-IR"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762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دلیل اهمیت  </a:t>
            </a:r>
            <a:r>
              <a:rPr lang="en-US" sz="5400" b="1" cap="none" dirty="0"/>
              <a:t>fork ()</a:t>
            </a:r>
            <a:r>
              <a:rPr lang="fa-IR" sz="5400" b="1" cap="none" dirty="0"/>
              <a:t> :</a:t>
            </a:r>
            <a:endParaRPr lang="fa-IR" sz="5400" b="1" dirty="0"/>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101799"/>
            <a:ext cx="11283519" cy="3307879"/>
          </a:xfrm>
        </p:spPr>
        <p:txBody>
          <a:bodyPr>
            <a:normAutofit/>
          </a:bodyPr>
          <a:lstStyle/>
          <a:p>
            <a:pPr algn="r"/>
            <a:r>
              <a:rPr lang="en-US" sz="2800" b="1" cap="none" dirty="0">
                <a:solidFill>
                  <a:schemeClr val="bg1"/>
                </a:solidFill>
                <a:latin typeface="Times New Roman" panose="02020603050405020304" pitchFamily="18" charset="0"/>
                <a:cs typeface="Times New Roman" panose="02020603050405020304" pitchFamily="18" charset="0"/>
              </a:rPr>
              <a:t>fork ()</a:t>
            </a:r>
            <a:r>
              <a:rPr lang="fa-IR" sz="2800" b="1" cap="none" dirty="0">
                <a:solidFill>
                  <a:schemeClr val="bg1"/>
                </a:solidFill>
                <a:latin typeface="Times New Roman" panose="02020603050405020304" pitchFamily="18" charset="0"/>
                <a:cs typeface="Times New Roman" panose="02020603050405020304" pitchFamily="18" charset="0"/>
              </a:rPr>
              <a:t> علاوه بر اینکه درون برنامه های نرم افزار ها برای افزودن ریز فرایند ها و کار های کوچک استفاده میشود درون خود کرنل هم برای ساخت ریز فرایند ها استفاده میشود،که برای مثال میتوان به جدول </a:t>
            </a:r>
            <a:r>
              <a:rPr lang="en-US" sz="2800" b="1" cap="none" dirty="0">
                <a:solidFill>
                  <a:schemeClr val="bg1"/>
                </a:solidFill>
                <a:latin typeface="Times New Roman" panose="02020603050405020304" pitchFamily="18" charset="0"/>
                <a:cs typeface="Times New Roman" panose="02020603050405020304" pitchFamily="18" charset="0"/>
              </a:rPr>
              <a:t>(1.1)</a:t>
            </a:r>
            <a:r>
              <a:rPr lang="fa-IR" sz="2800" b="1" cap="none" dirty="0">
                <a:solidFill>
                  <a:schemeClr val="bg1"/>
                </a:solidFill>
                <a:latin typeface="Times New Roman" panose="02020603050405020304" pitchFamily="18" charset="0"/>
                <a:cs typeface="Times New Roman" panose="02020603050405020304" pitchFamily="18" charset="0"/>
              </a:rPr>
              <a:t> خروجی دستور </a:t>
            </a:r>
            <a:r>
              <a:rPr lang="en-US" sz="2800" b="1" cap="none" dirty="0" err="1">
                <a:solidFill>
                  <a:schemeClr val="bg1"/>
                </a:solidFill>
                <a:latin typeface="Times New Roman" panose="02020603050405020304" pitchFamily="18" charset="0"/>
                <a:cs typeface="Times New Roman" panose="02020603050405020304" pitchFamily="18" charset="0"/>
              </a:rPr>
              <a:t>ps</a:t>
            </a:r>
            <a:r>
              <a:rPr lang="en-US" sz="2800" b="1" cap="none" dirty="0">
                <a:solidFill>
                  <a:schemeClr val="bg1"/>
                </a:solidFill>
                <a:latin typeface="Times New Roman" panose="02020603050405020304" pitchFamily="18" charset="0"/>
                <a:cs typeface="Times New Roman" panose="02020603050405020304" pitchFamily="18" charset="0"/>
              </a:rPr>
              <a:t> -</a:t>
            </a:r>
            <a:r>
              <a:rPr lang="en-US" sz="2800" b="1" cap="none" dirty="0" err="1">
                <a:solidFill>
                  <a:schemeClr val="bg1"/>
                </a:solidFill>
                <a:latin typeface="Times New Roman" panose="02020603050405020304" pitchFamily="18" charset="0"/>
                <a:cs typeface="Times New Roman" panose="02020603050405020304" pitchFamily="18" charset="0"/>
              </a:rPr>
              <a:t>ef</a:t>
            </a:r>
            <a:r>
              <a:rPr lang="fa-IR" sz="2800" b="1" cap="none" dirty="0">
                <a:solidFill>
                  <a:schemeClr val="bg1"/>
                </a:solidFill>
                <a:latin typeface="Times New Roman" panose="02020603050405020304" pitchFamily="18" charset="0"/>
                <a:cs typeface="Times New Roman" panose="02020603050405020304" pitchFamily="18" charset="0"/>
              </a:rPr>
              <a:t> در صفحع بعد اشاره کرد</a:t>
            </a:r>
          </a:p>
        </p:txBody>
      </p:sp>
    </p:spTree>
    <p:extLst>
      <p:ext uri="{BB962C8B-B14F-4D97-AF65-F5344CB8AC3E}">
        <p14:creationId xmlns:p14="http://schemas.microsoft.com/office/powerpoint/2010/main" val="23536342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دلیل اهمیت</a:t>
            </a:r>
            <a:r>
              <a:rPr lang="en-US" sz="5400" b="1" cap="none" dirty="0"/>
              <a:t>fork () </a:t>
            </a:r>
            <a:r>
              <a:rPr lang="fa-IR" sz="5400" b="1" cap="none" dirty="0"/>
              <a:t> :</a:t>
            </a:r>
            <a:endParaRPr lang="fa-IR" sz="5400" b="1" dirty="0"/>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101799"/>
            <a:ext cx="11283519" cy="3307879"/>
          </a:xfrm>
        </p:spPr>
        <p:txBody>
          <a:bodyPr>
            <a:normAutofit/>
          </a:bodyPr>
          <a:lstStyle/>
          <a:p>
            <a:pPr algn="r"/>
            <a:r>
              <a:rPr lang="fa-IR" sz="2800" b="1" cap="none" dirty="0">
                <a:solidFill>
                  <a:schemeClr val="bg1"/>
                </a:solidFill>
                <a:latin typeface="Times New Roman" panose="02020603050405020304" pitchFamily="18" charset="0"/>
                <a:cs typeface="Times New Roman" panose="02020603050405020304" pitchFamily="18" charset="0"/>
              </a:rPr>
              <a:t>در این جدول فرایند </a:t>
            </a:r>
            <a:r>
              <a:rPr lang="en-US" sz="2800" b="1" cap="none" dirty="0">
                <a:solidFill>
                  <a:schemeClr val="bg1"/>
                </a:solidFill>
                <a:latin typeface="Times New Roman" panose="02020603050405020304" pitchFamily="18" charset="0"/>
                <a:cs typeface="Times New Roman" panose="02020603050405020304" pitchFamily="18" charset="0"/>
              </a:rPr>
              <a:t>sched</a:t>
            </a:r>
            <a:r>
              <a:rPr lang="fa-IR" sz="2800" b="1" cap="none" dirty="0">
                <a:solidFill>
                  <a:schemeClr val="bg1"/>
                </a:solidFill>
                <a:latin typeface="Times New Roman" panose="02020603050405020304" pitchFamily="18" charset="0"/>
                <a:cs typeface="Times New Roman" panose="02020603050405020304" pitchFamily="18" charset="0"/>
              </a:rPr>
              <a:t> دارای</a:t>
            </a:r>
            <a:br>
              <a:rPr lang="fa-IR" sz="2800" b="1" cap="none" dirty="0">
                <a:solidFill>
                  <a:schemeClr val="bg1"/>
                </a:solidFill>
                <a:latin typeface="Times New Roman" panose="02020603050405020304" pitchFamily="18" charset="0"/>
                <a:cs typeface="Times New Roman" panose="02020603050405020304" pitchFamily="18" charset="0"/>
              </a:rPr>
            </a:br>
            <a:r>
              <a:rPr lang="fa-IR" sz="2800" b="1" cap="none" dirty="0">
                <a:solidFill>
                  <a:schemeClr val="bg1"/>
                </a:solidFill>
                <a:latin typeface="Times New Roman" panose="02020603050405020304" pitchFamily="18" charset="0"/>
                <a:cs typeface="Times New Roman" panose="02020603050405020304" pitchFamily="18" charset="0"/>
              </a:rPr>
              <a:t> آیدی فرایند</a:t>
            </a:r>
            <a:r>
              <a:rPr lang="en-US" sz="2800" b="1" cap="none" dirty="0">
                <a:solidFill>
                  <a:schemeClr val="bg1"/>
                </a:solidFill>
                <a:latin typeface="Times New Roman" panose="02020603050405020304" pitchFamily="18" charset="0"/>
                <a:cs typeface="Times New Roman" panose="02020603050405020304" pitchFamily="18" charset="0"/>
              </a:rPr>
              <a:t>(Process ID/PID)</a:t>
            </a:r>
            <a:r>
              <a:rPr lang="fa-IR" sz="2800" b="1" cap="none" dirty="0">
                <a:solidFill>
                  <a:schemeClr val="bg1"/>
                </a:solidFill>
                <a:latin typeface="Times New Roman" panose="02020603050405020304" pitchFamily="18" charset="0"/>
                <a:cs typeface="Times New Roman" panose="02020603050405020304" pitchFamily="18" charset="0"/>
              </a:rPr>
              <a:t> 0</a:t>
            </a:r>
            <a:br>
              <a:rPr lang="fa-IR" sz="2800" b="1" cap="none" dirty="0">
                <a:solidFill>
                  <a:schemeClr val="bg1"/>
                </a:solidFill>
                <a:latin typeface="Times New Roman" panose="02020603050405020304" pitchFamily="18" charset="0"/>
                <a:cs typeface="Times New Roman" panose="02020603050405020304" pitchFamily="18" charset="0"/>
              </a:rPr>
            </a:br>
            <a:r>
              <a:rPr lang="fa-IR" sz="2800" b="1" cap="none" dirty="0">
                <a:solidFill>
                  <a:schemeClr val="bg1"/>
                </a:solidFill>
                <a:latin typeface="Times New Roman" panose="02020603050405020304" pitchFamily="18" charset="0"/>
                <a:cs typeface="Times New Roman" panose="02020603050405020304" pitchFamily="18" charset="0"/>
              </a:rPr>
              <a:t> و آیدی فرایند والد </a:t>
            </a:r>
            <a:br>
              <a:rPr lang="fa-IR" sz="2800" b="1" cap="none" dirty="0">
                <a:solidFill>
                  <a:schemeClr val="bg1"/>
                </a:solidFill>
                <a:latin typeface="Times New Roman" panose="02020603050405020304" pitchFamily="18" charset="0"/>
                <a:cs typeface="Times New Roman" panose="02020603050405020304" pitchFamily="18" charset="0"/>
              </a:rPr>
            </a:br>
            <a:r>
              <a:rPr lang="en-US" sz="2800" b="1" cap="none" dirty="0">
                <a:solidFill>
                  <a:schemeClr val="bg1"/>
                </a:solidFill>
                <a:latin typeface="Times New Roman" panose="02020603050405020304" pitchFamily="18" charset="0"/>
                <a:cs typeface="Times New Roman" panose="02020603050405020304" pitchFamily="18" charset="0"/>
              </a:rPr>
              <a:t>Parent Process ID/PPID)</a:t>
            </a:r>
            <a:r>
              <a:rPr lang="fa-IR" sz="2800" b="1" cap="none" dirty="0">
                <a:solidFill>
                  <a:schemeClr val="bg1"/>
                </a:solidFill>
                <a:latin typeface="Times New Roman" panose="02020603050405020304" pitchFamily="18" charset="0"/>
                <a:cs typeface="Times New Roman" panose="02020603050405020304" pitchFamily="18" charset="0"/>
              </a:rPr>
              <a:t>) 0 </a:t>
            </a:r>
            <a:br>
              <a:rPr lang="fa-IR" sz="2800" b="1" cap="none" dirty="0">
                <a:solidFill>
                  <a:schemeClr val="bg1"/>
                </a:solidFill>
                <a:latin typeface="Times New Roman" panose="02020603050405020304" pitchFamily="18" charset="0"/>
                <a:cs typeface="Times New Roman" panose="02020603050405020304" pitchFamily="18" charset="0"/>
              </a:rPr>
            </a:br>
            <a:r>
              <a:rPr lang="fa-IR" sz="2800" b="1" cap="none" dirty="0">
                <a:solidFill>
                  <a:schemeClr val="bg1"/>
                </a:solidFill>
                <a:latin typeface="Times New Roman" panose="02020603050405020304" pitchFamily="18" charset="0"/>
                <a:cs typeface="Times New Roman" panose="02020603050405020304" pitchFamily="18" charset="0"/>
              </a:rPr>
              <a:t>میباشد که به این معنی است که فرایند</a:t>
            </a:r>
            <a:br>
              <a:rPr lang="fa-IR" sz="2800" b="1" cap="none" dirty="0">
                <a:solidFill>
                  <a:schemeClr val="bg1"/>
                </a:solidFill>
                <a:latin typeface="Times New Roman" panose="02020603050405020304" pitchFamily="18" charset="0"/>
                <a:cs typeface="Times New Roman" panose="02020603050405020304" pitchFamily="18" charset="0"/>
              </a:rPr>
            </a:br>
            <a:r>
              <a:rPr lang="en-US" sz="2800" b="1" cap="none" dirty="0">
                <a:solidFill>
                  <a:schemeClr val="bg1"/>
                </a:solidFill>
                <a:latin typeface="Times New Roman" panose="02020603050405020304" pitchFamily="18" charset="0"/>
                <a:cs typeface="Times New Roman" panose="02020603050405020304" pitchFamily="18" charset="0"/>
              </a:rPr>
              <a:t>sched</a:t>
            </a:r>
            <a:r>
              <a:rPr lang="fa-IR" sz="2800" b="1" cap="none" dirty="0">
                <a:solidFill>
                  <a:schemeClr val="bg1"/>
                </a:solidFill>
                <a:latin typeface="Times New Roman" panose="02020603050405020304" pitchFamily="18" charset="0"/>
                <a:cs typeface="Times New Roman" panose="02020603050405020304" pitchFamily="18" charset="0"/>
              </a:rPr>
              <a:t> فرایندی پایه ای است.</a:t>
            </a:r>
            <a:br>
              <a:rPr lang="fa-IR" sz="2800" b="1" cap="none" dirty="0">
                <a:solidFill>
                  <a:schemeClr val="bg1"/>
                </a:solidFill>
                <a:latin typeface="Times New Roman" panose="02020603050405020304" pitchFamily="18" charset="0"/>
                <a:cs typeface="Times New Roman" panose="02020603050405020304" pitchFamily="18" charset="0"/>
              </a:rPr>
            </a:br>
            <a:endParaRPr lang="fa-IR" sz="2800" b="1" cap="none"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3DD6B0A-7BF2-44E8-ACE7-BD7D4E0237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600" y="221701"/>
            <a:ext cx="6187977" cy="6187977"/>
          </a:xfrm>
          <a:prstGeom prst="rect">
            <a:avLst/>
          </a:prstGeom>
          <a:ln w="76200">
            <a:prstDash val="solid"/>
          </a:ln>
        </p:spPr>
        <p:style>
          <a:lnRef idx="0">
            <a:schemeClr val="dk1"/>
          </a:lnRef>
          <a:fillRef idx="3">
            <a:schemeClr val="dk1"/>
          </a:fillRef>
          <a:effectRef idx="3">
            <a:schemeClr val="dk1"/>
          </a:effectRef>
          <a:fontRef idx="minor">
            <a:schemeClr val="lt1"/>
          </a:fontRef>
        </p:style>
      </p:pic>
    </p:spTree>
    <p:extLst>
      <p:ext uri="{BB962C8B-B14F-4D97-AF65-F5344CB8AC3E}">
        <p14:creationId xmlns:p14="http://schemas.microsoft.com/office/powerpoint/2010/main" val="968068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دلیل اهمیت</a:t>
            </a:r>
            <a:r>
              <a:rPr lang="en-US" sz="5400" b="1" cap="none" dirty="0"/>
              <a:t>fork () </a:t>
            </a:r>
            <a:r>
              <a:rPr lang="fa-IR" sz="5400" b="1" cap="none" dirty="0"/>
              <a:t> :</a:t>
            </a:r>
            <a:endParaRPr lang="fa-IR" sz="5400" b="1" dirty="0"/>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101799"/>
            <a:ext cx="11283519" cy="3307879"/>
          </a:xfrm>
        </p:spPr>
        <p:txBody>
          <a:bodyPr>
            <a:normAutofit/>
          </a:bodyPr>
          <a:lstStyle/>
          <a:p>
            <a:pPr algn="r"/>
            <a:r>
              <a:rPr lang="fa-IR" sz="2800" b="1" cap="none" dirty="0">
                <a:solidFill>
                  <a:schemeClr val="bg1"/>
                </a:solidFill>
                <a:latin typeface="Times New Roman" panose="02020603050405020304" pitchFamily="18" charset="0"/>
                <a:cs typeface="Times New Roman" panose="02020603050405020304" pitchFamily="18" charset="0"/>
              </a:rPr>
              <a:t>فرایند </a:t>
            </a:r>
            <a:r>
              <a:rPr lang="en-US" sz="2800" b="1" cap="none" dirty="0" err="1">
                <a:solidFill>
                  <a:schemeClr val="bg1"/>
                </a:solidFill>
                <a:latin typeface="Times New Roman" panose="02020603050405020304" pitchFamily="18" charset="0"/>
                <a:cs typeface="Times New Roman" panose="02020603050405020304" pitchFamily="18" charset="0"/>
              </a:rPr>
              <a:t>init</a:t>
            </a:r>
            <a:r>
              <a:rPr lang="fa-IR" sz="2800" b="1" cap="none" dirty="0">
                <a:solidFill>
                  <a:schemeClr val="bg1"/>
                </a:solidFill>
                <a:latin typeface="Times New Roman" panose="02020603050405020304" pitchFamily="18" charset="0"/>
                <a:cs typeface="Times New Roman" panose="02020603050405020304" pitchFamily="18" charset="0"/>
              </a:rPr>
              <a:t> دارای آیدی فرایند 1 وآیدی</a:t>
            </a:r>
            <a:br>
              <a:rPr lang="fa-IR" sz="2800" b="1" cap="none" dirty="0">
                <a:solidFill>
                  <a:schemeClr val="bg1"/>
                </a:solidFill>
                <a:latin typeface="Times New Roman" panose="02020603050405020304" pitchFamily="18" charset="0"/>
                <a:cs typeface="Times New Roman" panose="02020603050405020304" pitchFamily="18" charset="0"/>
              </a:rPr>
            </a:br>
            <a:r>
              <a:rPr lang="fa-IR" sz="2800" b="1" cap="none" dirty="0">
                <a:solidFill>
                  <a:schemeClr val="bg1"/>
                </a:solidFill>
                <a:latin typeface="Times New Roman" panose="02020603050405020304" pitchFamily="18" charset="0"/>
                <a:cs typeface="Times New Roman" panose="02020603050405020304" pitchFamily="18" charset="0"/>
              </a:rPr>
              <a:t> فرایند والد 0 میباشد در نتیجه میتوان گفت</a:t>
            </a:r>
            <a:br>
              <a:rPr lang="fa-IR" sz="2800" b="1" cap="none" dirty="0">
                <a:solidFill>
                  <a:schemeClr val="bg1"/>
                </a:solidFill>
                <a:latin typeface="Times New Roman" panose="02020603050405020304" pitchFamily="18" charset="0"/>
                <a:cs typeface="Times New Roman" panose="02020603050405020304" pitchFamily="18" charset="0"/>
              </a:rPr>
            </a:br>
            <a:r>
              <a:rPr lang="fa-IR" sz="2800" b="1" cap="none" dirty="0">
                <a:solidFill>
                  <a:schemeClr val="bg1"/>
                </a:solidFill>
                <a:latin typeface="Times New Roman" panose="02020603050405020304" pitchFamily="18" charset="0"/>
                <a:cs typeface="Times New Roman" panose="02020603050405020304" pitchFamily="18" charset="0"/>
              </a:rPr>
              <a:t> فرایند </a:t>
            </a:r>
            <a:r>
              <a:rPr lang="en-US" sz="2800" b="1" cap="none" dirty="0" err="1">
                <a:solidFill>
                  <a:schemeClr val="bg1"/>
                </a:solidFill>
                <a:latin typeface="Times New Roman" panose="02020603050405020304" pitchFamily="18" charset="0"/>
                <a:cs typeface="Times New Roman" panose="02020603050405020304" pitchFamily="18" charset="0"/>
              </a:rPr>
              <a:t>init</a:t>
            </a:r>
            <a:r>
              <a:rPr lang="fa-IR" sz="2800" b="1" cap="none" dirty="0">
                <a:solidFill>
                  <a:schemeClr val="bg1"/>
                </a:solidFill>
                <a:latin typeface="Times New Roman" panose="02020603050405020304" pitchFamily="18" charset="0"/>
                <a:cs typeface="Times New Roman" panose="02020603050405020304" pitchFamily="18" charset="0"/>
              </a:rPr>
              <a:t> از فرایند </a:t>
            </a:r>
            <a:r>
              <a:rPr lang="en-US" sz="2800" b="1" cap="none" dirty="0">
                <a:solidFill>
                  <a:schemeClr val="bg1"/>
                </a:solidFill>
                <a:latin typeface="Times New Roman" panose="02020603050405020304" pitchFamily="18" charset="0"/>
                <a:cs typeface="Times New Roman" panose="02020603050405020304" pitchFamily="18" charset="0"/>
              </a:rPr>
              <a:t>sched</a:t>
            </a:r>
            <a:r>
              <a:rPr lang="fa-IR" sz="2800" b="1" cap="none" dirty="0">
                <a:solidFill>
                  <a:schemeClr val="bg1"/>
                </a:solidFill>
                <a:latin typeface="Times New Roman" panose="02020603050405020304" pitchFamily="18" charset="0"/>
                <a:cs typeface="Times New Roman" panose="02020603050405020304" pitchFamily="18" charset="0"/>
              </a:rPr>
              <a:t> </a:t>
            </a:r>
            <a:br>
              <a:rPr lang="fa-IR" sz="2800" b="1" cap="none" dirty="0">
                <a:solidFill>
                  <a:schemeClr val="bg1"/>
                </a:solidFill>
                <a:latin typeface="Times New Roman" panose="02020603050405020304" pitchFamily="18" charset="0"/>
                <a:cs typeface="Times New Roman" panose="02020603050405020304" pitchFamily="18" charset="0"/>
              </a:rPr>
            </a:br>
            <a:r>
              <a:rPr lang="en-US" sz="2800" b="1" cap="none" dirty="0">
                <a:solidFill>
                  <a:schemeClr val="bg1"/>
                </a:solidFill>
                <a:latin typeface="Times New Roman" panose="02020603050405020304" pitchFamily="18" charset="0"/>
                <a:cs typeface="Times New Roman" panose="02020603050405020304" pitchFamily="18" charset="0"/>
              </a:rPr>
              <a:t>(Schedular)</a:t>
            </a:r>
            <a:r>
              <a:rPr lang="fa-IR" sz="2800" b="1" cap="none" dirty="0">
                <a:solidFill>
                  <a:schemeClr val="bg1"/>
                </a:solidFill>
                <a:latin typeface="Times New Roman" panose="02020603050405020304" pitchFamily="18" charset="0"/>
                <a:cs typeface="Times New Roman" panose="02020603050405020304" pitchFamily="18" charset="0"/>
              </a:rPr>
              <a:t> نشات گرفته است که</a:t>
            </a:r>
            <a:br>
              <a:rPr lang="fa-IR" sz="2800" b="1" cap="none" dirty="0">
                <a:solidFill>
                  <a:schemeClr val="bg1"/>
                </a:solidFill>
                <a:latin typeface="Times New Roman" panose="02020603050405020304" pitchFamily="18" charset="0"/>
                <a:cs typeface="Times New Roman" panose="02020603050405020304" pitchFamily="18" charset="0"/>
              </a:rPr>
            </a:br>
            <a:r>
              <a:rPr lang="fa-IR" sz="2800" b="1" cap="none" dirty="0">
                <a:solidFill>
                  <a:schemeClr val="bg1"/>
                </a:solidFill>
                <a:latin typeface="Times New Roman" panose="02020603050405020304" pitchFamily="18" charset="0"/>
                <a:cs typeface="Times New Roman" panose="02020603050405020304" pitchFamily="18" charset="0"/>
              </a:rPr>
              <a:t> وظیفه اش زمانبندی اجرای فرایند های </a:t>
            </a:r>
            <a:br>
              <a:rPr lang="fa-IR" sz="2800" b="1" cap="none" dirty="0">
                <a:solidFill>
                  <a:schemeClr val="bg1"/>
                </a:solidFill>
                <a:latin typeface="Times New Roman" panose="02020603050405020304" pitchFamily="18" charset="0"/>
                <a:cs typeface="Times New Roman" panose="02020603050405020304" pitchFamily="18" charset="0"/>
              </a:rPr>
            </a:br>
            <a:r>
              <a:rPr lang="fa-IR" sz="2800" b="1" cap="none" dirty="0">
                <a:solidFill>
                  <a:schemeClr val="bg1"/>
                </a:solidFill>
                <a:latin typeface="Times New Roman" panose="02020603050405020304" pitchFamily="18" charset="0"/>
                <a:cs typeface="Times New Roman" panose="02020603050405020304" pitchFamily="18" charset="0"/>
              </a:rPr>
              <a:t>دیگر میباشد</a:t>
            </a:r>
          </a:p>
        </p:txBody>
      </p:sp>
      <p:pic>
        <p:nvPicPr>
          <p:cNvPr id="5" name="Picture 4">
            <a:extLst>
              <a:ext uri="{FF2B5EF4-FFF2-40B4-BE49-F238E27FC236}">
                <a16:creationId xmlns:a16="http://schemas.microsoft.com/office/drawing/2014/main" id="{63DD6B0A-7BF2-44E8-ACE7-BD7D4E0237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600" y="221701"/>
            <a:ext cx="6187977" cy="6187977"/>
          </a:xfrm>
          <a:prstGeom prst="rect">
            <a:avLst/>
          </a:prstGeom>
          <a:ln w="76200">
            <a:prstDash val="solid"/>
          </a:ln>
        </p:spPr>
        <p:style>
          <a:lnRef idx="0">
            <a:schemeClr val="dk1"/>
          </a:lnRef>
          <a:fillRef idx="3">
            <a:schemeClr val="dk1"/>
          </a:fillRef>
          <a:effectRef idx="3">
            <a:schemeClr val="dk1"/>
          </a:effectRef>
          <a:fontRef idx="minor">
            <a:schemeClr val="lt1"/>
          </a:fontRef>
        </p:style>
      </p:pic>
    </p:spTree>
    <p:extLst>
      <p:ext uri="{BB962C8B-B14F-4D97-AF65-F5344CB8AC3E}">
        <p14:creationId xmlns:p14="http://schemas.microsoft.com/office/powerpoint/2010/main" val="2636523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دلیل اهمیت</a:t>
            </a:r>
            <a:r>
              <a:rPr lang="en-US" sz="5400" b="1" cap="none" dirty="0"/>
              <a:t>fork () </a:t>
            </a:r>
            <a:r>
              <a:rPr lang="fa-IR" sz="5400" b="1" cap="none" dirty="0"/>
              <a:t> :</a:t>
            </a:r>
            <a:endParaRPr lang="fa-IR" sz="5400" b="1" dirty="0"/>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101799"/>
            <a:ext cx="11283519" cy="3307879"/>
          </a:xfrm>
        </p:spPr>
        <p:txBody>
          <a:bodyPr>
            <a:normAutofit/>
          </a:bodyPr>
          <a:lstStyle/>
          <a:p>
            <a:pPr algn="r"/>
            <a:r>
              <a:rPr lang="fa-IR" sz="2000" b="1" cap="none" dirty="0">
                <a:solidFill>
                  <a:schemeClr val="bg1"/>
                </a:solidFill>
                <a:latin typeface="Times New Roman" panose="02020603050405020304" pitchFamily="18" charset="0"/>
                <a:cs typeface="Times New Roman" panose="02020603050405020304" pitchFamily="18" charset="0"/>
              </a:rPr>
              <a:t>و در آخر فرایند </a:t>
            </a:r>
            <a:r>
              <a:rPr lang="en-US" sz="2000" b="1" cap="none" dirty="0" err="1">
                <a:solidFill>
                  <a:schemeClr val="bg1"/>
                </a:solidFill>
                <a:latin typeface="Times New Roman" panose="02020603050405020304" pitchFamily="18" charset="0"/>
                <a:cs typeface="Times New Roman" panose="02020603050405020304" pitchFamily="18" charset="0"/>
              </a:rPr>
              <a:t>inetd</a:t>
            </a:r>
            <a:r>
              <a:rPr lang="fa-IR" sz="2000" b="1" cap="none" dirty="0">
                <a:solidFill>
                  <a:schemeClr val="bg1"/>
                </a:solidFill>
                <a:latin typeface="Times New Roman" panose="02020603050405020304" pitchFamily="18" charset="0"/>
                <a:cs typeface="Times New Roman" panose="02020603050405020304" pitchFamily="18" charset="0"/>
              </a:rPr>
              <a:t> </a:t>
            </a:r>
            <a:r>
              <a:rPr kumimoji="0" lang="en-US" sz="20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Internet Service Daemon)</a:t>
            </a:r>
            <a:r>
              <a:rPr kumimoji="0" lang="fa-IR" sz="20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 </a:t>
            </a:r>
            <a:br>
              <a:rPr kumimoji="0" lang="fa-IR" sz="20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br>
            <a:r>
              <a:rPr lang="fa-IR" sz="2000" b="1" cap="none" dirty="0">
                <a:solidFill>
                  <a:schemeClr val="bg1"/>
                </a:solidFill>
                <a:latin typeface="Times New Roman" panose="02020603050405020304" pitchFamily="18" charset="0"/>
                <a:cs typeface="Times New Roman" panose="02020603050405020304" pitchFamily="18" charset="0"/>
              </a:rPr>
              <a:t>با شماره آیدی131 و آیدی والد 1 هم از</a:t>
            </a:r>
            <a:r>
              <a:rPr lang="en-US" sz="2000" b="1" cap="none" dirty="0" err="1">
                <a:solidFill>
                  <a:schemeClr val="bg1"/>
                </a:solidFill>
                <a:latin typeface="Times New Roman" panose="02020603050405020304" pitchFamily="18" charset="0"/>
                <a:cs typeface="Times New Roman" panose="02020603050405020304" pitchFamily="18" charset="0"/>
              </a:rPr>
              <a:t>init</a:t>
            </a:r>
            <a:r>
              <a:rPr lang="fa-IR" sz="2000" b="1" cap="none" dirty="0">
                <a:solidFill>
                  <a:schemeClr val="bg1"/>
                </a:solidFill>
                <a:latin typeface="Times New Roman" panose="02020603050405020304" pitchFamily="18" charset="0"/>
                <a:cs typeface="Times New Roman" panose="02020603050405020304" pitchFamily="18" charset="0"/>
              </a:rPr>
              <a:t> نشات گرفته</a:t>
            </a:r>
            <a:br>
              <a:rPr lang="fa-IR" sz="2000" b="1" cap="none" dirty="0">
                <a:solidFill>
                  <a:schemeClr val="bg1"/>
                </a:solidFill>
                <a:latin typeface="Times New Roman" panose="02020603050405020304" pitchFamily="18" charset="0"/>
                <a:cs typeface="Times New Roman" panose="02020603050405020304" pitchFamily="18" charset="0"/>
              </a:rPr>
            </a:br>
            <a:r>
              <a:rPr lang="fa-IR" sz="2000" b="1" cap="none" dirty="0">
                <a:solidFill>
                  <a:schemeClr val="bg1"/>
                </a:solidFill>
                <a:latin typeface="Times New Roman" panose="02020603050405020304" pitchFamily="18" charset="0"/>
                <a:cs typeface="Times New Roman" panose="02020603050405020304" pitchFamily="18" charset="0"/>
              </a:rPr>
              <a:t> که فرایندی برای آماده سازی واجرای برخی فرایند های</a:t>
            </a:r>
            <a:br>
              <a:rPr lang="fa-IR" sz="2000" b="1" cap="none" dirty="0">
                <a:solidFill>
                  <a:schemeClr val="bg1"/>
                </a:solidFill>
                <a:latin typeface="Times New Roman" panose="02020603050405020304" pitchFamily="18" charset="0"/>
                <a:cs typeface="Times New Roman" panose="02020603050405020304" pitchFamily="18" charset="0"/>
              </a:rPr>
            </a:br>
            <a:r>
              <a:rPr lang="fa-IR" sz="2000" b="1" cap="none" dirty="0">
                <a:solidFill>
                  <a:schemeClr val="bg1"/>
                </a:solidFill>
                <a:latin typeface="Times New Roman" panose="02020603050405020304" pitchFamily="18" charset="0"/>
                <a:cs typeface="Times New Roman" panose="02020603050405020304" pitchFamily="18" charset="0"/>
              </a:rPr>
              <a:t> دیگر با توجه به حالات پیش فرض و معین است.</a:t>
            </a:r>
            <a:br>
              <a:rPr lang="fa-IR" sz="2000" b="1" cap="none" dirty="0">
                <a:solidFill>
                  <a:schemeClr val="bg1"/>
                </a:solidFill>
                <a:latin typeface="Times New Roman" panose="02020603050405020304" pitchFamily="18" charset="0"/>
                <a:cs typeface="Times New Roman" panose="02020603050405020304" pitchFamily="18" charset="0"/>
              </a:rPr>
            </a:br>
            <a:r>
              <a:rPr lang="fa-IR" sz="2000" b="1" cap="none" dirty="0">
                <a:solidFill>
                  <a:schemeClr val="bg1"/>
                </a:solidFill>
                <a:latin typeface="Times New Roman" panose="02020603050405020304" pitchFamily="18" charset="0"/>
                <a:cs typeface="Times New Roman" panose="02020603050405020304" pitchFamily="18" charset="0"/>
              </a:rPr>
              <a:t>در اسلاید بعد برنامه ای را که به طور خلاصه </a:t>
            </a:r>
            <a:br>
              <a:rPr lang="fa-IR" sz="2000" b="1" cap="none" dirty="0">
                <a:solidFill>
                  <a:schemeClr val="bg1"/>
                </a:solidFill>
                <a:latin typeface="Times New Roman" panose="02020603050405020304" pitchFamily="18" charset="0"/>
                <a:cs typeface="Times New Roman" panose="02020603050405020304" pitchFamily="18" charset="0"/>
              </a:rPr>
            </a:br>
            <a:r>
              <a:rPr lang="fa-IR" sz="2000" b="1" cap="none" dirty="0">
                <a:solidFill>
                  <a:schemeClr val="bg1"/>
                </a:solidFill>
                <a:latin typeface="Times New Roman" panose="02020603050405020304" pitchFamily="18" charset="0"/>
                <a:cs typeface="Times New Roman" panose="02020603050405020304" pitchFamily="18" charset="0"/>
              </a:rPr>
              <a:t>شیوه استفاده از این </a:t>
            </a:r>
            <a:r>
              <a:rPr lang="en-US" sz="2000" b="1" cap="none" dirty="0">
                <a:solidFill>
                  <a:schemeClr val="bg1"/>
                </a:solidFill>
                <a:latin typeface="Times New Roman" panose="02020603050405020304" pitchFamily="18" charset="0"/>
                <a:cs typeface="Times New Roman" panose="02020603050405020304" pitchFamily="18" charset="0"/>
              </a:rPr>
              <a:t>System Call</a:t>
            </a:r>
            <a:r>
              <a:rPr lang="fa-IR" sz="2000" b="1" cap="none" dirty="0">
                <a:solidFill>
                  <a:schemeClr val="bg1"/>
                </a:solidFill>
                <a:latin typeface="Times New Roman" panose="02020603050405020304" pitchFamily="18" charset="0"/>
                <a:cs typeface="Times New Roman" panose="02020603050405020304" pitchFamily="18" charset="0"/>
              </a:rPr>
              <a:t> را نمایش داده (شکل</a:t>
            </a:r>
            <a:br>
              <a:rPr lang="fa-IR" sz="2000" b="1" cap="none" dirty="0">
                <a:solidFill>
                  <a:schemeClr val="bg1"/>
                </a:solidFill>
                <a:latin typeface="Times New Roman" panose="02020603050405020304" pitchFamily="18" charset="0"/>
                <a:cs typeface="Times New Roman" panose="02020603050405020304" pitchFamily="18" charset="0"/>
              </a:rPr>
            </a:br>
            <a:r>
              <a:rPr lang="fa-IR" sz="2000" b="1" cap="none" dirty="0">
                <a:solidFill>
                  <a:schemeClr val="bg1"/>
                </a:solidFill>
                <a:latin typeface="Times New Roman" panose="02020603050405020304" pitchFamily="18" charset="0"/>
                <a:cs typeface="Times New Roman" panose="02020603050405020304" pitchFamily="18" charset="0"/>
              </a:rPr>
              <a:t>1.3) و سپس عکسی که کار برنامه مورد نظر را توضیح </a:t>
            </a:r>
            <a:br>
              <a:rPr lang="fa-IR" sz="2000" b="1" cap="none" dirty="0">
                <a:solidFill>
                  <a:schemeClr val="bg1"/>
                </a:solidFill>
                <a:latin typeface="Times New Roman" panose="02020603050405020304" pitchFamily="18" charset="0"/>
                <a:cs typeface="Times New Roman" panose="02020603050405020304" pitchFamily="18" charset="0"/>
              </a:rPr>
            </a:br>
            <a:r>
              <a:rPr lang="fa-IR" sz="2000" b="1" cap="none" dirty="0">
                <a:solidFill>
                  <a:schemeClr val="bg1"/>
                </a:solidFill>
                <a:latin typeface="Times New Roman" panose="02020603050405020304" pitchFamily="18" charset="0"/>
                <a:cs typeface="Times New Roman" panose="02020603050405020304" pitchFamily="18" charset="0"/>
              </a:rPr>
              <a:t>داده را مشاهده میکنیم (شکل 1.4)</a:t>
            </a:r>
            <a:br>
              <a:rPr lang="fa-IR" sz="2000" b="1" cap="none" dirty="0">
                <a:solidFill>
                  <a:schemeClr val="bg1"/>
                </a:solidFill>
                <a:latin typeface="Times New Roman" panose="02020603050405020304" pitchFamily="18" charset="0"/>
                <a:cs typeface="Times New Roman" panose="02020603050405020304" pitchFamily="18" charset="0"/>
              </a:rPr>
            </a:br>
            <a:endParaRPr lang="fa-IR" sz="2000" b="1" cap="none"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3DD6B0A-7BF2-44E8-ACE7-BD7D4E0237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600" y="221701"/>
            <a:ext cx="6187977" cy="6187977"/>
          </a:xfrm>
          <a:prstGeom prst="rect">
            <a:avLst/>
          </a:prstGeom>
          <a:ln w="76200">
            <a:prstDash val="solid"/>
          </a:ln>
        </p:spPr>
        <p:style>
          <a:lnRef idx="0">
            <a:schemeClr val="dk1"/>
          </a:lnRef>
          <a:fillRef idx="3">
            <a:schemeClr val="dk1"/>
          </a:fillRef>
          <a:effectRef idx="3">
            <a:schemeClr val="dk1"/>
          </a:effectRef>
          <a:fontRef idx="minor">
            <a:schemeClr val="lt1"/>
          </a:fontRef>
        </p:style>
      </p:pic>
    </p:spTree>
    <p:extLst>
      <p:ext uri="{BB962C8B-B14F-4D97-AF65-F5344CB8AC3E}">
        <p14:creationId xmlns:p14="http://schemas.microsoft.com/office/powerpoint/2010/main" val="29763103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endParaRPr lang="fa-IR" sz="5400" b="1" dirty="0"/>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101799"/>
            <a:ext cx="11283519" cy="3307879"/>
          </a:xfrm>
        </p:spPr>
        <p:txBody>
          <a:bodyPr>
            <a:normAutofit/>
          </a:bodyPr>
          <a:lstStyle/>
          <a:p>
            <a:pPr algn="r"/>
            <a:endParaRPr lang="fa-IR" sz="2800" b="1" cap="none" dirty="0">
              <a:solidFill>
                <a:schemeClr val="bg1"/>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DA442C4-AC4C-4E1F-9B87-6C9C4970FC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3881" y="1563622"/>
            <a:ext cx="5652119" cy="4846056"/>
          </a:xfrm>
          <a:prstGeom prst="rect">
            <a:avLst/>
          </a:prstGeom>
        </p:spPr>
      </p:pic>
      <p:pic>
        <p:nvPicPr>
          <p:cNvPr id="7" name="Picture 6">
            <a:extLst>
              <a:ext uri="{FF2B5EF4-FFF2-40B4-BE49-F238E27FC236}">
                <a16:creationId xmlns:a16="http://schemas.microsoft.com/office/drawing/2014/main" id="{F4C2926A-111B-45D3-922B-39933D805D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85641" y="1563623"/>
            <a:ext cx="6106359" cy="4846055"/>
          </a:xfrm>
          <a:prstGeom prst="rect">
            <a:avLst/>
          </a:prstGeom>
        </p:spPr>
      </p:pic>
      <p:sp>
        <p:nvSpPr>
          <p:cNvPr id="8" name="TextBox 7">
            <a:extLst>
              <a:ext uri="{FF2B5EF4-FFF2-40B4-BE49-F238E27FC236}">
                <a16:creationId xmlns:a16="http://schemas.microsoft.com/office/drawing/2014/main" id="{ACF399AC-E4F3-4E3D-9182-9D91944EC926}"/>
              </a:ext>
            </a:extLst>
          </p:cNvPr>
          <p:cNvSpPr txBox="1"/>
          <p:nvPr/>
        </p:nvSpPr>
        <p:spPr>
          <a:xfrm>
            <a:off x="1545336" y="829606"/>
            <a:ext cx="3026664" cy="707886"/>
          </a:xfrm>
          <a:prstGeom prst="rect">
            <a:avLst/>
          </a:prstGeom>
          <a:noFill/>
        </p:spPr>
        <p:txBody>
          <a:bodyPr wrap="square" rtlCol="1">
            <a:spAutoFit/>
          </a:bodyPr>
          <a:lstStyle/>
          <a:p>
            <a:pPr algn="ctr"/>
            <a:r>
              <a:rPr lang="fa-IR" sz="4000" dirty="0">
                <a:solidFill>
                  <a:srgbClr val="FF0000"/>
                </a:solidFill>
              </a:rPr>
              <a:t>1.3</a:t>
            </a:r>
            <a:endParaRPr lang="fa-IR" dirty="0">
              <a:solidFill>
                <a:srgbClr val="FF0000"/>
              </a:solidFill>
            </a:endParaRPr>
          </a:p>
        </p:txBody>
      </p:sp>
      <p:sp>
        <p:nvSpPr>
          <p:cNvPr id="9" name="TextBox 8">
            <a:extLst>
              <a:ext uri="{FF2B5EF4-FFF2-40B4-BE49-F238E27FC236}">
                <a16:creationId xmlns:a16="http://schemas.microsoft.com/office/drawing/2014/main" id="{61D22140-0AC1-4947-A465-A9A276A288DA}"/>
              </a:ext>
            </a:extLst>
          </p:cNvPr>
          <p:cNvSpPr txBox="1"/>
          <p:nvPr/>
        </p:nvSpPr>
        <p:spPr>
          <a:xfrm>
            <a:off x="7870852" y="860383"/>
            <a:ext cx="2535936" cy="707886"/>
          </a:xfrm>
          <a:prstGeom prst="rect">
            <a:avLst/>
          </a:prstGeom>
          <a:noFill/>
        </p:spPr>
        <p:txBody>
          <a:bodyPr wrap="square" rtlCol="1">
            <a:spAutoFit/>
          </a:bodyPr>
          <a:lstStyle/>
          <a:p>
            <a:pPr algn="ctr"/>
            <a:r>
              <a:rPr lang="fa-IR" sz="4000" dirty="0">
                <a:solidFill>
                  <a:srgbClr val="FF0000"/>
                </a:solidFill>
              </a:rPr>
              <a:t>1.4</a:t>
            </a:r>
            <a:endParaRPr lang="fa-IR" sz="3600" dirty="0">
              <a:solidFill>
                <a:srgbClr val="FF0000"/>
              </a:solidFill>
            </a:endParaRPr>
          </a:p>
        </p:txBody>
      </p:sp>
    </p:spTree>
    <p:extLst>
      <p:ext uri="{BB962C8B-B14F-4D97-AF65-F5344CB8AC3E}">
        <p14:creationId xmlns:p14="http://schemas.microsoft.com/office/powerpoint/2010/main" val="2444369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9"/>
            <a:ext cx="11283517" cy="1862356"/>
          </a:xfrm>
        </p:spPr>
        <p:txBody>
          <a:bodyPr anchor="ctr">
            <a:normAutofit/>
          </a:bodyPr>
          <a:lstStyle/>
          <a:p>
            <a:pPr algn="r"/>
            <a:r>
              <a:rPr lang="fa-IR" sz="5400" b="1" dirty="0"/>
              <a:t>حجم و موقعیت کرنل </a:t>
            </a:r>
            <a:r>
              <a:rPr lang="en-US" sz="5400" b="1" dirty="0"/>
              <a:t>Unix</a:t>
            </a:r>
            <a:r>
              <a:rPr lang="fa-IR" sz="5400" b="1" dirty="0"/>
              <a:t>: </a:t>
            </a:r>
          </a:p>
        </p:txBody>
      </p:sp>
      <p:sp>
        <p:nvSpPr>
          <p:cNvPr id="3" name="Subtitle 2">
            <a:extLst>
              <a:ext uri="{FF2B5EF4-FFF2-40B4-BE49-F238E27FC236}">
                <a16:creationId xmlns:a16="http://schemas.microsoft.com/office/drawing/2014/main" id="{A71FE079-6DAA-46F9-97D8-A78738442B6D}"/>
              </a:ext>
            </a:extLst>
          </p:cNvPr>
          <p:cNvSpPr>
            <a:spLocks noGrp="1"/>
          </p:cNvSpPr>
          <p:nvPr>
            <p:ph type="subTitle" idx="1"/>
          </p:nvPr>
        </p:nvSpPr>
        <p:spPr>
          <a:xfrm>
            <a:off x="464600" y="3101799"/>
            <a:ext cx="11283519" cy="3307879"/>
          </a:xfrm>
        </p:spPr>
        <p:txBody>
          <a:bodyPr>
            <a:normAutofit/>
          </a:bodyPr>
          <a:lstStyle/>
          <a:p>
            <a:pPr algn="r"/>
            <a:r>
              <a:rPr lang="fa-IR" sz="2800" b="1" cap="none" dirty="0">
                <a:solidFill>
                  <a:schemeClr val="bg1"/>
                </a:solidFill>
                <a:latin typeface="Times New Roman" panose="02020603050405020304" pitchFamily="18" charset="0"/>
                <a:cs typeface="Times New Roman" panose="02020603050405020304" pitchFamily="18" charset="0"/>
              </a:rPr>
              <a:t>کرنل </a:t>
            </a:r>
            <a:r>
              <a:rPr lang="en-US" sz="2800" b="1" cap="none" dirty="0">
                <a:solidFill>
                  <a:schemeClr val="bg1"/>
                </a:solidFill>
                <a:latin typeface="Times New Roman" panose="02020603050405020304" pitchFamily="18" charset="0"/>
                <a:cs typeface="Times New Roman" panose="02020603050405020304" pitchFamily="18" charset="0"/>
              </a:rPr>
              <a:t>Unix</a:t>
            </a:r>
            <a:r>
              <a:rPr lang="fa-IR" sz="2800" b="1" cap="none" dirty="0">
                <a:solidFill>
                  <a:schemeClr val="bg1"/>
                </a:solidFill>
                <a:latin typeface="Times New Roman" panose="02020603050405020304" pitchFamily="18" charset="0"/>
                <a:cs typeface="Times New Roman" panose="02020603050405020304" pitchFamily="18" charset="0"/>
              </a:rPr>
              <a:t> به تنهایی حجم زیادی را اشغال نمیکند و حجم آن میتواند بسته به نوع پیکر بندی سیستم و تعداد درایور های نصب شده روی ان متفاوت باشد یک حجم نسبتا طبیعی برای کرنل میتواند بین 1 تا 5 مگابایت باشد.در سیستم های سولاریس 7 </a:t>
            </a:r>
            <a:r>
              <a:rPr lang="en-US" sz="2800" b="1" cap="none" dirty="0">
                <a:solidFill>
                  <a:schemeClr val="bg1"/>
                </a:solidFill>
                <a:latin typeface="Times New Roman" panose="02020603050405020304" pitchFamily="18" charset="0"/>
                <a:cs typeface="Times New Roman" panose="02020603050405020304" pitchFamily="18" charset="0"/>
              </a:rPr>
              <a:t>(Solaris 2.7)</a:t>
            </a:r>
            <a:r>
              <a:rPr lang="fa-IR" sz="2800" b="1" cap="none" dirty="0">
                <a:solidFill>
                  <a:schemeClr val="bg1"/>
                </a:solidFill>
                <a:latin typeface="Times New Roman" panose="02020603050405020304" pitchFamily="18" charset="0"/>
                <a:cs typeface="Times New Roman" panose="02020603050405020304" pitchFamily="18" charset="0"/>
              </a:rPr>
              <a:t> محل فایل کرنل </a:t>
            </a:r>
            <a:br>
              <a:rPr lang="fa-IR" sz="2800" b="1" cap="none" dirty="0">
                <a:solidFill>
                  <a:schemeClr val="bg1"/>
                </a:solidFill>
                <a:latin typeface="Times New Roman" panose="02020603050405020304" pitchFamily="18" charset="0"/>
                <a:cs typeface="Times New Roman" panose="02020603050405020304" pitchFamily="18" charset="0"/>
              </a:rPr>
            </a:br>
            <a:r>
              <a:rPr lang="en-US" sz="3200" dirty="0">
                <a:solidFill>
                  <a:schemeClr val="bg1"/>
                </a:solidFill>
              </a:rPr>
              <a:t>platform/kernel/</a:t>
            </a:r>
            <a:r>
              <a:rPr lang="en-US" sz="3200" dirty="0" err="1">
                <a:solidFill>
                  <a:schemeClr val="bg1"/>
                </a:solidFill>
              </a:rPr>
              <a:t>unix</a:t>
            </a:r>
            <a:br>
              <a:rPr lang="fa-IR" sz="3200" dirty="0">
                <a:solidFill>
                  <a:schemeClr val="bg1"/>
                </a:solidFill>
              </a:rPr>
            </a:br>
            <a:r>
              <a:rPr kumimoji="0" lang="fa-IR" sz="2800" b="1" i="0" u="none" strike="noStrike" kern="1200" cap="none" spc="0" normalizeH="0" baseline="0" noProof="0" dirty="0">
                <a:ln>
                  <a:noFill/>
                </a:ln>
                <a:solidFill>
                  <a:prstClr val="white"/>
                </a:solidFill>
                <a:effectLst/>
                <a:uLnTx/>
                <a:uFillTx/>
                <a:latin typeface="Times New Roman" panose="02020603050405020304" pitchFamily="18" charset="0"/>
                <a:ea typeface="+mn-ea"/>
                <a:cs typeface="Times New Roman" panose="02020603050405020304" pitchFamily="18" charset="0"/>
              </a:rPr>
              <a:t>میباشد</a:t>
            </a:r>
            <a:endParaRPr lang="fa-IR" sz="2800" b="1" cap="none"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8473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405E1-6431-451B-8C58-E64EF7C013E5}"/>
              </a:ext>
            </a:extLst>
          </p:cNvPr>
          <p:cNvSpPr>
            <a:spLocks noGrp="1"/>
          </p:cNvSpPr>
          <p:nvPr>
            <p:ph type="ctrTitle"/>
          </p:nvPr>
        </p:nvSpPr>
        <p:spPr>
          <a:xfrm>
            <a:off x="443883" y="1216158"/>
            <a:ext cx="11283517" cy="4370825"/>
          </a:xfrm>
        </p:spPr>
        <p:txBody>
          <a:bodyPr anchor="ctr">
            <a:noAutofit/>
          </a:bodyPr>
          <a:lstStyle/>
          <a:p>
            <a:pPr algn="ctr"/>
            <a:r>
              <a:rPr lang="fa-IR" sz="21000" b="1" dirty="0">
                <a:solidFill>
                  <a:srgbClr val="FF0000"/>
                </a:solidFill>
              </a:rPr>
              <a:t>پایان</a:t>
            </a:r>
          </a:p>
        </p:txBody>
      </p:sp>
    </p:spTree>
    <p:extLst>
      <p:ext uri="{BB962C8B-B14F-4D97-AF65-F5344CB8AC3E}">
        <p14:creationId xmlns:p14="http://schemas.microsoft.com/office/powerpoint/2010/main" val="503154974"/>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TM02900743[[fn=Organic]]</Template>
  <TotalTime>2061</TotalTime>
  <Words>1511</Words>
  <Application>Microsoft Office PowerPoint</Application>
  <PresentationFormat>Widescreen</PresentationFormat>
  <Paragraphs>34</Paragraphs>
  <Slides>18</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18</vt:i4>
      </vt:variant>
    </vt:vector>
  </HeadingPairs>
  <TitlesOfParts>
    <vt:vector size="26" baseType="lpstr">
      <vt:lpstr>Arial</vt:lpstr>
      <vt:lpstr>Calibri</vt:lpstr>
      <vt:lpstr>Garamond</vt:lpstr>
      <vt:lpstr>Gill Sans MT</vt:lpstr>
      <vt:lpstr>Times New Roman</vt:lpstr>
      <vt:lpstr>Wingdings 2</vt:lpstr>
      <vt:lpstr>Organic</vt:lpstr>
      <vt:lpstr>Dividend</vt:lpstr>
      <vt:lpstr>بنام خدا</vt:lpstr>
      <vt:lpstr>مقدمه ای کلی برای کرنل:</vt:lpstr>
      <vt:lpstr>دلیل اهمیت کرنل Unix:</vt:lpstr>
      <vt:lpstr>کرنل Unix و System call های آن:</vt:lpstr>
      <vt:lpstr>PowerPoint Presentation</vt:lpstr>
      <vt:lpstr>PowerPoint Presentation</vt:lpstr>
      <vt:lpstr>تماس سیستم read () و تاثیر  System Call ها بر راندمان :</vt:lpstr>
      <vt:lpstr>توضیحاتی بیشتر درمورد System callها:</vt:lpstr>
      <vt:lpstr>تماس سیستم fork () :</vt:lpstr>
      <vt:lpstr>تماس سیستم fork () :</vt:lpstr>
      <vt:lpstr>تماس سیستم fork () :</vt:lpstr>
      <vt:lpstr>دلیل اهمیت  fork () :</vt:lpstr>
      <vt:lpstr>دلیل اهمیتfork ()  :</vt:lpstr>
      <vt:lpstr>دلیل اهمیتfork ()  :</vt:lpstr>
      <vt:lpstr>دلیل اهمیتfork ()  :</vt:lpstr>
      <vt:lpstr>PowerPoint Presentation</vt:lpstr>
      <vt:lpstr>حجم و موقعیت کرنل Unix: </vt:lpstr>
      <vt:lpstr>پایان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بنام خدا</dc:title>
  <dc:creator>Nexusboy</dc:creator>
  <cp:lastModifiedBy>Nexusboy</cp:lastModifiedBy>
  <cp:revision>39</cp:revision>
  <dcterms:created xsi:type="dcterms:W3CDTF">2021-05-29T08:16:28Z</dcterms:created>
  <dcterms:modified xsi:type="dcterms:W3CDTF">2021-06-01T04:02:54Z</dcterms:modified>
</cp:coreProperties>
</file>