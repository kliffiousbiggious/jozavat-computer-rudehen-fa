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5" r:id="rId4"/>
    <p:sldId id="271" r:id="rId5"/>
    <p:sldId id="270" r:id="rId6"/>
    <p:sldId id="273" r:id="rId7"/>
    <p:sldId id="269" r:id="rId8"/>
    <p:sldId id="268" r:id="rId9"/>
    <p:sldId id="275" r:id="rId10"/>
    <p:sldId id="274" r:id="rId11"/>
    <p:sldId id="276" r:id="rId12"/>
    <p:sldId id="284" r:id="rId13"/>
    <p:sldId id="258" r:id="rId14"/>
    <p:sldId id="277" r:id="rId15"/>
    <p:sldId id="279" r:id="rId16"/>
    <p:sldId id="278" r:id="rId17"/>
    <p:sldId id="280" r:id="rId18"/>
    <p:sldId id="281" r:id="rId19"/>
    <p:sldId id="282" r:id="rId20"/>
    <p:sldId id="283" r:id="rId21"/>
    <p:sldId id="259" r:id="rId22"/>
    <p:sldId id="260" r:id="rId23"/>
    <p:sldId id="261" r:id="rId24"/>
    <p:sldId id="262" r:id="rId25"/>
    <p:sldId id="263" r:id="rId26"/>
    <p:sldId id="26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7" d="100"/>
          <a:sy n="77" d="100"/>
        </p:scale>
        <p:origin x="2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030209-7FAD-4C94-9474-AD0DF54CEA2F}" type="doc">
      <dgm:prSet loTypeId="urn:microsoft.com/office/officeart/2005/8/layout/chart3" loCatId="cycle" qsTypeId="urn:microsoft.com/office/officeart/2009/2/quickstyle/3d8" qsCatId="3D" csTypeId="urn:microsoft.com/office/officeart/2005/8/colors/accent1_2" csCatId="accent1" phldr="1"/>
      <dgm:spPr/>
    </dgm:pt>
    <dgm:pt modelId="{5A0547C8-1F11-4048-A7B6-460F5BC0946D}">
      <dgm:prSet phldrT="[Text]"/>
      <dgm:spPr/>
      <dgm:t>
        <a:bodyPr/>
        <a:lstStyle/>
        <a:p>
          <a:r>
            <a:rPr lang="en-US" dirty="0" smtClean="0"/>
            <a:t>Volume</a:t>
          </a:r>
          <a:r>
            <a:rPr lang="fa-IR" dirty="0" smtClean="0"/>
            <a:t> حجم</a:t>
          </a:r>
          <a:endParaRPr lang="en-US" dirty="0"/>
        </a:p>
      </dgm:t>
    </dgm:pt>
    <dgm:pt modelId="{228DABDE-E06B-40FB-BD96-AC4E2B93BC35}" type="parTrans" cxnId="{0B2E22F9-5720-4456-8291-EB031F53F5C5}">
      <dgm:prSet/>
      <dgm:spPr/>
      <dgm:t>
        <a:bodyPr/>
        <a:lstStyle/>
        <a:p>
          <a:endParaRPr lang="en-US"/>
        </a:p>
      </dgm:t>
    </dgm:pt>
    <dgm:pt modelId="{D366AB56-C74B-49D9-B238-1937BA775BF1}" type="sibTrans" cxnId="{0B2E22F9-5720-4456-8291-EB031F53F5C5}">
      <dgm:prSet/>
      <dgm:spPr/>
      <dgm:t>
        <a:bodyPr/>
        <a:lstStyle/>
        <a:p>
          <a:endParaRPr lang="en-US"/>
        </a:p>
      </dgm:t>
    </dgm:pt>
    <dgm:pt modelId="{B72161A2-1D89-44BD-A9F7-E0B025165256}">
      <dgm:prSet phldrT="[Text]"/>
      <dgm:spPr/>
      <dgm:t>
        <a:bodyPr/>
        <a:lstStyle/>
        <a:p>
          <a:r>
            <a:rPr lang="en-US" dirty="0" smtClean="0"/>
            <a:t>Velocity</a:t>
          </a:r>
        </a:p>
        <a:p>
          <a:r>
            <a:rPr lang="fa-IR" dirty="0" smtClean="0"/>
            <a:t>سرعت</a:t>
          </a:r>
          <a:endParaRPr lang="en-US" dirty="0"/>
        </a:p>
      </dgm:t>
    </dgm:pt>
    <dgm:pt modelId="{47D19B5E-8663-4BFB-89FD-66C3472789B3}" type="parTrans" cxnId="{BFD263D5-A5C6-4EAE-84EC-3569F6E907E6}">
      <dgm:prSet/>
      <dgm:spPr/>
      <dgm:t>
        <a:bodyPr/>
        <a:lstStyle/>
        <a:p>
          <a:endParaRPr lang="en-US"/>
        </a:p>
      </dgm:t>
    </dgm:pt>
    <dgm:pt modelId="{3F91A8E1-2320-4F5D-A448-1B364622F9AE}" type="sibTrans" cxnId="{BFD263D5-A5C6-4EAE-84EC-3569F6E907E6}">
      <dgm:prSet/>
      <dgm:spPr/>
      <dgm:t>
        <a:bodyPr/>
        <a:lstStyle/>
        <a:p>
          <a:endParaRPr lang="en-US"/>
        </a:p>
      </dgm:t>
    </dgm:pt>
    <dgm:pt modelId="{4F26EDFA-47D5-400E-9AF8-C4E6EF59E088}">
      <dgm:prSet phldrT="[Text]"/>
      <dgm:spPr/>
      <dgm:t>
        <a:bodyPr/>
        <a:lstStyle/>
        <a:p>
          <a:r>
            <a:rPr lang="fa-IR" dirty="0" smtClean="0"/>
            <a:t>تنوع</a:t>
          </a:r>
        </a:p>
        <a:p>
          <a:r>
            <a:rPr lang="en-US" dirty="0" smtClean="0"/>
            <a:t>variety</a:t>
          </a:r>
          <a:endParaRPr lang="en-US" dirty="0"/>
        </a:p>
      </dgm:t>
    </dgm:pt>
    <dgm:pt modelId="{D9349A9D-4001-45F4-811F-91C9CC35EE18}" type="parTrans" cxnId="{65B3BF63-CBC5-47F3-BB96-6541E80D02BF}">
      <dgm:prSet/>
      <dgm:spPr/>
      <dgm:t>
        <a:bodyPr/>
        <a:lstStyle/>
        <a:p>
          <a:endParaRPr lang="en-US"/>
        </a:p>
      </dgm:t>
    </dgm:pt>
    <dgm:pt modelId="{EBF7054A-FCD7-4822-9F54-7C712A68932C}" type="sibTrans" cxnId="{65B3BF63-CBC5-47F3-BB96-6541E80D02BF}">
      <dgm:prSet/>
      <dgm:spPr/>
      <dgm:t>
        <a:bodyPr/>
        <a:lstStyle/>
        <a:p>
          <a:endParaRPr lang="en-US"/>
        </a:p>
      </dgm:t>
    </dgm:pt>
    <dgm:pt modelId="{C047CADD-8876-43F4-AC2B-F21927B9637C}" type="pres">
      <dgm:prSet presAssocID="{62030209-7FAD-4C94-9474-AD0DF54CEA2F}" presName="compositeShape" presStyleCnt="0">
        <dgm:presLayoutVars>
          <dgm:chMax val="7"/>
          <dgm:dir/>
          <dgm:resizeHandles val="exact"/>
        </dgm:presLayoutVars>
      </dgm:prSet>
      <dgm:spPr/>
    </dgm:pt>
    <dgm:pt modelId="{5B41F398-1D1D-484A-BCD1-FA3B75A2ABF2}" type="pres">
      <dgm:prSet presAssocID="{62030209-7FAD-4C94-9474-AD0DF54CEA2F}" presName="wedge1" presStyleLbl="node1" presStyleIdx="0" presStyleCnt="3"/>
      <dgm:spPr/>
      <dgm:t>
        <a:bodyPr/>
        <a:lstStyle/>
        <a:p>
          <a:endParaRPr lang="en-US"/>
        </a:p>
      </dgm:t>
    </dgm:pt>
    <dgm:pt modelId="{A18687BE-8B13-4685-B00A-420329E119A9}" type="pres">
      <dgm:prSet presAssocID="{62030209-7FAD-4C94-9474-AD0DF54CEA2F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A753D5B-F812-4E4E-B7B8-B8E0C626126B}" type="pres">
      <dgm:prSet presAssocID="{62030209-7FAD-4C94-9474-AD0DF54CEA2F}" presName="wedge2" presStyleLbl="node1" presStyleIdx="1" presStyleCnt="3"/>
      <dgm:spPr/>
      <dgm:t>
        <a:bodyPr/>
        <a:lstStyle/>
        <a:p>
          <a:endParaRPr lang="en-US"/>
        </a:p>
      </dgm:t>
    </dgm:pt>
    <dgm:pt modelId="{ADE80541-661F-49C7-B0B8-230F2B353EAE}" type="pres">
      <dgm:prSet presAssocID="{62030209-7FAD-4C94-9474-AD0DF54CEA2F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092FD8-17E7-437A-B095-7C6ABC2C0494}" type="pres">
      <dgm:prSet presAssocID="{62030209-7FAD-4C94-9474-AD0DF54CEA2F}" presName="wedge3" presStyleLbl="node1" presStyleIdx="2" presStyleCnt="3"/>
      <dgm:spPr/>
      <dgm:t>
        <a:bodyPr/>
        <a:lstStyle/>
        <a:p>
          <a:endParaRPr lang="en-US"/>
        </a:p>
      </dgm:t>
    </dgm:pt>
    <dgm:pt modelId="{4A2CEC56-8828-4185-8FD5-00337DCD4808}" type="pres">
      <dgm:prSet presAssocID="{62030209-7FAD-4C94-9474-AD0DF54CEA2F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6308D00-B2BA-48E1-8F46-F9187AFE81CC}" type="presOf" srcId="{5A0547C8-1F11-4048-A7B6-460F5BC0946D}" destId="{A18687BE-8B13-4685-B00A-420329E119A9}" srcOrd="1" destOrd="0" presId="urn:microsoft.com/office/officeart/2005/8/layout/chart3"/>
    <dgm:cxn modelId="{650063BE-6F53-4B56-872D-D12FB783441D}" type="presOf" srcId="{B72161A2-1D89-44BD-A9F7-E0B025165256}" destId="{ADE80541-661F-49C7-B0B8-230F2B353EAE}" srcOrd="1" destOrd="0" presId="urn:microsoft.com/office/officeart/2005/8/layout/chart3"/>
    <dgm:cxn modelId="{65B3BF63-CBC5-47F3-BB96-6541E80D02BF}" srcId="{62030209-7FAD-4C94-9474-AD0DF54CEA2F}" destId="{4F26EDFA-47D5-400E-9AF8-C4E6EF59E088}" srcOrd="2" destOrd="0" parTransId="{D9349A9D-4001-45F4-811F-91C9CC35EE18}" sibTransId="{EBF7054A-FCD7-4822-9F54-7C712A68932C}"/>
    <dgm:cxn modelId="{6E2C7C12-04BC-48AC-98E4-4A39DFA7C85E}" type="presOf" srcId="{62030209-7FAD-4C94-9474-AD0DF54CEA2F}" destId="{C047CADD-8876-43F4-AC2B-F21927B9637C}" srcOrd="0" destOrd="0" presId="urn:microsoft.com/office/officeart/2005/8/layout/chart3"/>
    <dgm:cxn modelId="{53FAF8AE-AAD3-44F4-BF63-2BE18CF07139}" type="presOf" srcId="{4F26EDFA-47D5-400E-9AF8-C4E6EF59E088}" destId="{4A2CEC56-8828-4185-8FD5-00337DCD4808}" srcOrd="1" destOrd="0" presId="urn:microsoft.com/office/officeart/2005/8/layout/chart3"/>
    <dgm:cxn modelId="{BFD263D5-A5C6-4EAE-84EC-3569F6E907E6}" srcId="{62030209-7FAD-4C94-9474-AD0DF54CEA2F}" destId="{B72161A2-1D89-44BD-A9F7-E0B025165256}" srcOrd="1" destOrd="0" parTransId="{47D19B5E-8663-4BFB-89FD-66C3472789B3}" sibTransId="{3F91A8E1-2320-4F5D-A448-1B364622F9AE}"/>
    <dgm:cxn modelId="{79F93ABE-60A5-4D24-B241-07BF6441C6F5}" type="presOf" srcId="{B72161A2-1D89-44BD-A9F7-E0B025165256}" destId="{1A753D5B-F812-4E4E-B7B8-B8E0C626126B}" srcOrd="0" destOrd="0" presId="urn:microsoft.com/office/officeart/2005/8/layout/chart3"/>
    <dgm:cxn modelId="{BEE89962-4EBB-43A7-B826-74DE729C60CD}" type="presOf" srcId="{4F26EDFA-47D5-400E-9AF8-C4E6EF59E088}" destId="{5A092FD8-17E7-437A-B095-7C6ABC2C0494}" srcOrd="0" destOrd="0" presId="urn:microsoft.com/office/officeart/2005/8/layout/chart3"/>
    <dgm:cxn modelId="{0B2E22F9-5720-4456-8291-EB031F53F5C5}" srcId="{62030209-7FAD-4C94-9474-AD0DF54CEA2F}" destId="{5A0547C8-1F11-4048-A7B6-460F5BC0946D}" srcOrd="0" destOrd="0" parTransId="{228DABDE-E06B-40FB-BD96-AC4E2B93BC35}" sibTransId="{D366AB56-C74B-49D9-B238-1937BA775BF1}"/>
    <dgm:cxn modelId="{B57A303B-7AC1-42F0-9318-DAD4CCC93ED4}" type="presOf" srcId="{5A0547C8-1F11-4048-A7B6-460F5BC0946D}" destId="{5B41F398-1D1D-484A-BCD1-FA3B75A2ABF2}" srcOrd="0" destOrd="0" presId="urn:microsoft.com/office/officeart/2005/8/layout/chart3"/>
    <dgm:cxn modelId="{751963B3-DB5C-4A34-B2D9-4BF92E0DD3CD}" type="presParOf" srcId="{C047CADD-8876-43F4-AC2B-F21927B9637C}" destId="{5B41F398-1D1D-484A-BCD1-FA3B75A2ABF2}" srcOrd="0" destOrd="0" presId="urn:microsoft.com/office/officeart/2005/8/layout/chart3"/>
    <dgm:cxn modelId="{1A5A062C-899E-4F38-B69E-71E3545BEBF2}" type="presParOf" srcId="{C047CADD-8876-43F4-AC2B-F21927B9637C}" destId="{A18687BE-8B13-4685-B00A-420329E119A9}" srcOrd="1" destOrd="0" presId="urn:microsoft.com/office/officeart/2005/8/layout/chart3"/>
    <dgm:cxn modelId="{13D4EA6F-36AA-48EB-8347-AC0945E9D465}" type="presParOf" srcId="{C047CADD-8876-43F4-AC2B-F21927B9637C}" destId="{1A753D5B-F812-4E4E-B7B8-B8E0C626126B}" srcOrd="2" destOrd="0" presId="urn:microsoft.com/office/officeart/2005/8/layout/chart3"/>
    <dgm:cxn modelId="{EFFD366B-3CB4-403B-8AC3-5CB1EC5EECEA}" type="presParOf" srcId="{C047CADD-8876-43F4-AC2B-F21927B9637C}" destId="{ADE80541-661F-49C7-B0B8-230F2B353EAE}" srcOrd="3" destOrd="0" presId="urn:microsoft.com/office/officeart/2005/8/layout/chart3"/>
    <dgm:cxn modelId="{F60C6F7A-EEA6-456A-BBB5-4F897F803A31}" type="presParOf" srcId="{C047CADD-8876-43F4-AC2B-F21927B9637C}" destId="{5A092FD8-17E7-437A-B095-7C6ABC2C0494}" srcOrd="4" destOrd="0" presId="urn:microsoft.com/office/officeart/2005/8/layout/chart3"/>
    <dgm:cxn modelId="{94E03C77-8294-4AC2-80F2-97FEC599AE3F}" type="presParOf" srcId="{C047CADD-8876-43F4-AC2B-F21927B9637C}" destId="{4A2CEC56-8828-4185-8FD5-00337DCD4808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1708-DC5C-4765-A762-419D2062342B}" type="doc">
      <dgm:prSet loTypeId="urn:microsoft.com/office/officeart/2005/8/layout/process1" loCatId="process" qsTypeId="urn:microsoft.com/office/officeart/2005/8/quickstyle/3d3" qsCatId="3D" csTypeId="urn:microsoft.com/office/officeart/2005/8/colors/accent1_2" csCatId="accent1" phldr="1"/>
      <dgm:spPr/>
    </dgm:pt>
    <dgm:pt modelId="{4B4FE353-90B7-49B2-A84D-E87EC8EF6BCA}">
      <dgm:prSet phldrT="[Text]"/>
      <dgm:spPr/>
      <dgm:t>
        <a:bodyPr/>
        <a:lstStyle/>
        <a:p>
          <a:r>
            <a:rPr lang="fa-IR" smtClean="0">
              <a:solidFill>
                <a:schemeClr val="bg1"/>
              </a:solidFill>
              <a:cs typeface="B Nazanin" panose="00000400000000000000" pitchFamily="2" charset="-78"/>
            </a:rPr>
            <a:t>داده</a:t>
          </a:r>
          <a:endParaRPr lang="en-US" dirty="0">
            <a:solidFill>
              <a:schemeClr val="bg1"/>
            </a:solidFill>
            <a:cs typeface="B Nazanin" panose="00000400000000000000" pitchFamily="2" charset="-78"/>
          </a:endParaRPr>
        </a:p>
      </dgm:t>
    </dgm:pt>
    <dgm:pt modelId="{022EB3D9-F5A9-4716-B5EF-F2CCD4A584EF}" type="parTrans" cxnId="{095D6234-2A24-4080-B674-75B8E13498EC}">
      <dgm:prSet/>
      <dgm:spPr/>
      <dgm:t>
        <a:bodyPr/>
        <a:lstStyle/>
        <a:p>
          <a:endParaRPr lang="en-US"/>
        </a:p>
      </dgm:t>
    </dgm:pt>
    <dgm:pt modelId="{9ACDB603-A71C-4ECC-AA51-0FC9214CCF63}" type="sibTrans" cxnId="{095D6234-2A24-4080-B674-75B8E13498EC}">
      <dgm:prSet/>
      <dgm:spPr/>
      <dgm:t>
        <a:bodyPr/>
        <a:lstStyle/>
        <a:p>
          <a:endParaRPr lang="en-US"/>
        </a:p>
      </dgm:t>
    </dgm:pt>
    <dgm:pt modelId="{04B01830-C43A-4A40-BAE2-818180952715}">
      <dgm:prSet phldrT="[Text]"/>
      <dgm:spPr/>
      <dgm:t>
        <a:bodyPr/>
        <a:lstStyle/>
        <a:p>
          <a:r>
            <a:rPr lang="fa-IR" smtClean="0">
              <a:solidFill>
                <a:schemeClr val="bg1"/>
              </a:solidFill>
              <a:cs typeface="B Nazanin" panose="00000400000000000000" pitchFamily="2" charset="-78"/>
            </a:rPr>
            <a:t>اطلاعات</a:t>
          </a:r>
          <a:endParaRPr lang="en-US" dirty="0">
            <a:solidFill>
              <a:schemeClr val="bg1"/>
            </a:solidFill>
            <a:cs typeface="B Nazanin" panose="00000400000000000000" pitchFamily="2" charset="-78"/>
          </a:endParaRPr>
        </a:p>
      </dgm:t>
    </dgm:pt>
    <dgm:pt modelId="{BF23F972-131C-427E-9F4F-3A665B7EA455}" type="parTrans" cxnId="{90652931-0EB0-456A-86C3-835D9D885065}">
      <dgm:prSet/>
      <dgm:spPr/>
      <dgm:t>
        <a:bodyPr/>
        <a:lstStyle/>
        <a:p>
          <a:endParaRPr lang="en-US"/>
        </a:p>
      </dgm:t>
    </dgm:pt>
    <dgm:pt modelId="{47C35CA2-FB85-473E-B8CC-E0F0DC39DDB6}" type="sibTrans" cxnId="{90652931-0EB0-456A-86C3-835D9D885065}">
      <dgm:prSet/>
      <dgm:spPr/>
      <dgm:t>
        <a:bodyPr/>
        <a:lstStyle/>
        <a:p>
          <a:endParaRPr lang="en-US"/>
        </a:p>
      </dgm:t>
    </dgm:pt>
    <dgm:pt modelId="{0763A32B-696C-46DC-AFD1-6F89BCB9418F}">
      <dgm:prSet phldrT="[Text]"/>
      <dgm:spPr/>
      <dgm:t>
        <a:bodyPr/>
        <a:lstStyle/>
        <a:p>
          <a:r>
            <a:rPr lang="fa-IR" smtClean="0">
              <a:solidFill>
                <a:schemeClr val="bg1"/>
              </a:solidFill>
              <a:cs typeface="B Nazanin" panose="00000400000000000000" pitchFamily="2" charset="-78"/>
            </a:rPr>
            <a:t>دانش</a:t>
          </a:r>
          <a:endParaRPr lang="en-US" dirty="0">
            <a:solidFill>
              <a:schemeClr val="bg1"/>
            </a:solidFill>
            <a:cs typeface="B Nazanin" panose="00000400000000000000" pitchFamily="2" charset="-78"/>
          </a:endParaRPr>
        </a:p>
      </dgm:t>
    </dgm:pt>
    <dgm:pt modelId="{3CAE7E0B-ACCF-4ECA-82BC-14A60881D55E}" type="parTrans" cxnId="{7FC824C8-49EA-42B2-A468-75B974B2304F}">
      <dgm:prSet/>
      <dgm:spPr/>
      <dgm:t>
        <a:bodyPr/>
        <a:lstStyle/>
        <a:p>
          <a:endParaRPr lang="en-US"/>
        </a:p>
      </dgm:t>
    </dgm:pt>
    <dgm:pt modelId="{B0B4101A-5BEB-45E7-9FF6-2A1B0FA7149E}" type="sibTrans" cxnId="{7FC824C8-49EA-42B2-A468-75B974B2304F}">
      <dgm:prSet/>
      <dgm:spPr/>
      <dgm:t>
        <a:bodyPr/>
        <a:lstStyle/>
        <a:p>
          <a:endParaRPr lang="en-US"/>
        </a:p>
      </dgm:t>
    </dgm:pt>
    <dgm:pt modelId="{3D2DC2AD-F4A6-4CF9-8C02-53CA59B120C1}" type="pres">
      <dgm:prSet presAssocID="{B64D1708-DC5C-4765-A762-419D2062342B}" presName="Name0" presStyleCnt="0">
        <dgm:presLayoutVars>
          <dgm:dir/>
          <dgm:resizeHandles val="exact"/>
        </dgm:presLayoutVars>
      </dgm:prSet>
      <dgm:spPr/>
    </dgm:pt>
    <dgm:pt modelId="{F6EAB051-66CC-46B1-9D3B-F6B5DC1CD8A1}" type="pres">
      <dgm:prSet presAssocID="{4B4FE353-90B7-49B2-A84D-E87EC8EF6BCA}" presName="node" presStyleLbl="node1" presStyleIdx="0" presStyleCnt="3" custLinFactNeighborX="10504" custLinFactNeighborY="212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00609E-DA67-41F3-9C7C-2AA1E9F5DCD3}" type="pres">
      <dgm:prSet presAssocID="{9ACDB603-A71C-4ECC-AA51-0FC9214CCF63}" presName="sibTrans" presStyleLbl="sibTrans2D1" presStyleIdx="0" presStyleCnt="2"/>
      <dgm:spPr/>
      <dgm:t>
        <a:bodyPr/>
        <a:lstStyle/>
        <a:p>
          <a:endParaRPr lang="en-US"/>
        </a:p>
      </dgm:t>
    </dgm:pt>
    <dgm:pt modelId="{770FDD21-61E8-4111-9378-220CD08CD6F1}" type="pres">
      <dgm:prSet presAssocID="{9ACDB603-A71C-4ECC-AA51-0FC9214CCF63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7E8BA453-274E-4AD8-8F2C-C2B6F6E4020C}" type="pres">
      <dgm:prSet presAssocID="{04B01830-C43A-4A40-BAE2-818180952715}" presName="node" presStyleLbl="node1" presStyleIdx="1" presStyleCnt="3" custLinFactNeighborX="4062" custLinFactNeighborY="14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493DE3-EC93-4290-BFF7-A7C4086772F8}" type="pres">
      <dgm:prSet presAssocID="{47C35CA2-FB85-473E-B8CC-E0F0DC39DDB6}" presName="sibTrans" presStyleLbl="sibTrans2D1" presStyleIdx="1" presStyleCnt="2"/>
      <dgm:spPr/>
      <dgm:t>
        <a:bodyPr/>
        <a:lstStyle/>
        <a:p>
          <a:endParaRPr lang="en-US"/>
        </a:p>
      </dgm:t>
    </dgm:pt>
    <dgm:pt modelId="{31509DB1-29D5-483C-9F01-98F076A0C9F6}" type="pres">
      <dgm:prSet presAssocID="{47C35CA2-FB85-473E-B8CC-E0F0DC39DDB6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2534383C-6414-47BF-B283-79D6042CD74C}" type="pres">
      <dgm:prSet presAssocID="{0763A32B-696C-46DC-AFD1-6F89BCB9418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950D82D-7778-4DF4-8008-A4510788E709}" type="presOf" srcId="{47C35CA2-FB85-473E-B8CC-E0F0DC39DDB6}" destId="{31509DB1-29D5-483C-9F01-98F076A0C9F6}" srcOrd="1" destOrd="0" presId="urn:microsoft.com/office/officeart/2005/8/layout/process1"/>
    <dgm:cxn modelId="{E78BF495-D0CA-40AF-AA17-425C05DAD6AE}" type="presOf" srcId="{04B01830-C43A-4A40-BAE2-818180952715}" destId="{7E8BA453-274E-4AD8-8F2C-C2B6F6E4020C}" srcOrd="0" destOrd="0" presId="urn:microsoft.com/office/officeart/2005/8/layout/process1"/>
    <dgm:cxn modelId="{05BA52F3-CC2E-425B-9005-9DD613089B73}" type="presOf" srcId="{9ACDB603-A71C-4ECC-AA51-0FC9214CCF63}" destId="{B500609E-DA67-41F3-9C7C-2AA1E9F5DCD3}" srcOrd="0" destOrd="0" presId="urn:microsoft.com/office/officeart/2005/8/layout/process1"/>
    <dgm:cxn modelId="{7504C802-D07A-498F-8578-08874C941B93}" type="presOf" srcId="{B64D1708-DC5C-4765-A762-419D2062342B}" destId="{3D2DC2AD-F4A6-4CF9-8C02-53CA59B120C1}" srcOrd="0" destOrd="0" presId="urn:microsoft.com/office/officeart/2005/8/layout/process1"/>
    <dgm:cxn modelId="{DD1AA247-E5D1-4A11-88EE-085DF5AFC852}" type="presOf" srcId="{47C35CA2-FB85-473E-B8CC-E0F0DC39DDB6}" destId="{CD493DE3-EC93-4290-BFF7-A7C4086772F8}" srcOrd="0" destOrd="0" presId="urn:microsoft.com/office/officeart/2005/8/layout/process1"/>
    <dgm:cxn modelId="{095D6234-2A24-4080-B674-75B8E13498EC}" srcId="{B64D1708-DC5C-4765-A762-419D2062342B}" destId="{4B4FE353-90B7-49B2-A84D-E87EC8EF6BCA}" srcOrd="0" destOrd="0" parTransId="{022EB3D9-F5A9-4716-B5EF-F2CCD4A584EF}" sibTransId="{9ACDB603-A71C-4ECC-AA51-0FC9214CCF63}"/>
    <dgm:cxn modelId="{51E8E1F5-4BFA-46B1-8517-350474C2E34A}" type="presOf" srcId="{4B4FE353-90B7-49B2-A84D-E87EC8EF6BCA}" destId="{F6EAB051-66CC-46B1-9D3B-F6B5DC1CD8A1}" srcOrd="0" destOrd="0" presId="urn:microsoft.com/office/officeart/2005/8/layout/process1"/>
    <dgm:cxn modelId="{90652931-0EB0-456A-86C3-835D9D885065}" srcId="{B64D1708-DC5C-4765-A762-419D2062342B}" destId="{04B01830-C43A-4A40-BAE2-818180952715}" srcOrd="1" destOrd="0" parTransId="{BF23F972-131C-427E-9F4F-3A665B7EA455}" sibTransId="{47C35CA2-FB85-473E-B8CC-E0F0DC39DDB6}"/>
    <dgm:cxn modelId="{62CED527-6F9A-4FF0-B82A-C290B43AFB53}" type="presOf" srcId="{0763A32B-696C-46DC-AFD1-6F89BCB9418F}" destId="{2534383C-6414-47BF-B283-79D6042CD74C}" srcOrd="0" destOrd="0" presId="urn:microsoft.com/office/officeart/2005/8/layout/process1"/>
    <dgm:cxn modelId="{7FC824C8-49EA-42B2-A468-75B974B2304F}" srcId="{B64D1708-DC5C-4765-A762-419D2062342B}" destId="{0763A32B-696C-46DC-AFD1-6F89BCB9418F}" srcOrd="2" destOrd="0" parTransId="{3CAE7E0B-ACCF-4ECA-82BC-14A60881D55E}" sibTransId="{B0B4101A-5BEB-45E7-9FF6-2A1B0FA7149E}"/>
    <dgm:cxn modelId="{04CF999A-48EA-40A8-A9B4-807328DF43E5}" type="presOf" srcId="{9ACDB603-A71C-4ECC-AA51-0FC9214CCF63}" destId="{770FDD21-61E8-4111-9378-220CD08CD6F1}" srcOrd="1" destOrd="0" presId="urn:microsoft.com/office/officeart/2005/8/layout/process1"/>
    <dgm:cxn modelId="{1E6667F0-A823-4CFF-A314-2779C5B589B9}" type="presParOf" srcId="{3D2DC2AD-F4A6-4CF9-8C02-53CA59B120C1}" destId="{F6EAB051-66CC-46B1-9D3B-F6B5DC1CD8A1}" srcOrd="0" destOrd="0" presId="urn:microsoft.com/office/officeart/2005/8/layout/process1"/>
    <dgm:cxn modelId="{02DEC1A1-903D-4232-AB11-B5093213BD66}" type="presParOf" srcId="{3D2DC2AD-F4A6-4CF9-8C02-53CA59B120C1}" destId="{B500609E-DA67-41F3-9C7C-2AA1E9F5DCD3}" srcOrd="1" destOrd="0" presId="urn:microsoft.com/office/officeart/2005/8/layout/process1"/>
    <dgm:cxn modelId="{2686BDD1-DD97-48D5-8A96-37998886A290}" type="presParOf" srcId="{B500609E-DA67-41F3-9C7C-2AA1E9F5DCD3}" destId="{770FDD21-61E8-4111-9378-220CD08CD6F1}" srcOrd="0" destOrd="0" presId="urn:microsoft.com/office/officeart/2005/8/layout/process1"/>
    <dgm:cxn modelId="{E8E40AB1-E5B4-48B0-8014-2DFD85E21E3F}" type="presParOf" srcId="{3D2DC2AD-F4A6-4CF9-8C02-53CA59B120C1}" destId="{7E8BA453-274E-4AD8-8F2C-C2B6F6E4020C}" srcOrd="2" destOrd="0" presId="urn:microsoft.com/office/officeart/2005/8/layout/process1"/>
    <dgm:cxn modelId="{0EB7C21F-76DD-4A63-BB1F-72C0421383C9}" type="presParOf" srcId="{3D2DC2AD-F4A6-4CF9-8C02-53CA59B120C1}" destId="{CD493DE3-EC93-4290-BFF7-A7C4086772F8}" srcOrd="3" destOrd="0" presId="urn:microsoft.com/office/officeart/2005/8/layout/process1"/>
    <dgm:cxn modelId="{6E8CA222-C370-4A54-83DC-C9C0558F12F8}" type="presParOf" srcId="{CD493DE3-EC93-4290-BFF7-A7C4086772F8}" destId="{31509DB1-29D5-483C-9F01-98F076A0C9F6}" srcOrd="0" destOrd="0" presId="urn:microsoft.com/office/officeart/2005/8/layout/process1"/>
    <dgm:cxn modelId="{647927A0-69B8-4682-9D1E-ADBE5DDD16D0}" type="presParOf" srcId="{3D2DC2AD-F4A6-4CF9-8C02-53CA59B120C1}" destId="{2534383C-6414-47BF-B283-79D6042CD74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96E4EF4-05C5-431D-B87D-90A7F21F6818}" type="doc">
      <dgm:prSet loTypeId="urn:microsoft.com/office/officeart/2005/8/layout/radial3" loCatId="cycle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A53CC1-D532-48B3-A4E6-986748705A3C}">
      <dgm:prSet phldrT="[Text]"/>
      <dgm:spPr/>
      <dgm:t>
        <a:bodyPr/>
        <a:lstStyle/>
        <a:p>
          <a:r>
            <a:rPr lang="en-US" dirty="0" smtClean="0"/>
            <a:t>ACID</a:t>
          </a:r>
          <a:endParaRPr lang="en-US" dirty="0"/>
        </a:p>
      </dgm:t>
    </dgm:pt>
    <dgm:pt modelId="{48AA0BBB-F05A-44B5-9CB8-FADB098DE59C}" type="parTrans" cxnId="{B8CB943E-F9F7-432F-8412-8905DBCD5275}">
      <dgm:prSet/>
      <dgm:spPr/>
      <dgm:t>
        <a:bodyPr/>
        <a:lstStyle/>
        <a:p>
          <a:endParaRPr lang="en-US"/>
        </a:p>
      </dgm:t>
    </dgm:pt>
    <dgm:pt modelId="{96C1DA48-C29A-42F7-97B7-F91496CB3E70}" type="sibTrans" cxnId="{B8CB943E-F9F7-432F-8412-8905DBCD5275}">
      <dgm:prSet/>
      <dgm:spPr/>
      <dgm:t>
        <a:bodyPr/>
        <a:lstStyle/>
        <a:p>
          <a:endParaRPr lang="en-US"/>
        </a:p>
      </dgm:t>
    </dgm:pt>
    <dgm:pt modelId="{99DEF1FA-5A56-4FC4-ADFF-FADE2385CF08}">
      <dgm:prSet phldrT="[Text]" custT="1"/>
      <dgm:spPr/>
      <dgm:t>
        <a:bodyPr/>
        <a:lstStyle/>
        <a:p>
          <a:r>
            <a:rPr lang="en-US" sz="1800" dirty="0" smtClean="0"/>
            <a:t>Atomicity</a:t>
          </a:r>
          <a:endParaRPr lang="en-US" sz="1800" dirty="0"/>
        </a:p>
      </dgm:t>
    </dgm:pt>
    <dgm:pt modelId="{E93FFDFE-3296-4C14-9C51-D8FEFD200117}" type="parTrans" cxnId="{D4D6DAB4-A2B1-4401-95E2-CDD477CC5694}">
      <dgm:prSet/>
      <dgm:spPr/>
      <dgm:t>
        <a:bodyPr/>
        <a:lstStyle/>
        <a:p>
          <a:endParaRPr lang="en-US"/>
        </a:p>
      </dgm:t>
    </dgm:pt>
    <dgm:pt modelId="{A823CE2F-D5ED-4F08-9345-C4ED7BCE3D43}" type="sibTrans" cxnId="{D4D6DAB4-A2B1-4401-95E2-CDD477CC5694}">
      <dgm:prSet/>
      <dgm:spPr/>
      <dgm:t>
        <a:bodyPr/>
        <a:lstStyle/>
        <a:p>
          <a:endParaRPr lang="en-US"/>
        </a:p>
      </dgm:t>
    </dgm:pt>
    <dgm:pt modelId="{743CDFAC-9D92-4045-A3AE-666CF4C5C2DF}">
      <dgm:prSet phldrT="[Text]" custT="1"/>
      <dgm:spPr/>
      <dgm:t>
        <a:bodyPr/>
        <a:lstStyle/>
        <a:p>
          <a:r>
            <a:rPr lang="en-US" sz="1800" dirty="0" smtClean="0"/>
            <a:t>consistency</a:t>
          </a:r>
          <a:endParaRPr lang="en-US" sz="1800" dirty="0"/>
        </a:p>
      </dgm:t>
    </dgm:pt>
    <dgm:pt modelId="{D103AB21-8CC7-4B07-BDE7-B74F4DF0FAF3}" type="parTrans" cxnId="{ED1D8688-B5AF-48E2-BD4F-FB47BAAE5B48}">
      <dgm:prSet/>
      <dgm:spPr/>
      <dgm:t>
        <a:bodyPr/>
        <a:lstStyle/>
        <a:p>
          <a:endParaRPr lang="en-US"/>
        </a:p>
      </dgm:t>
    </dgm:pt>
    <dgm:pt modelId="{843B38B6-D5CC-4BD9-ADC3-9D17ECC812AC}" type="sibTrans" cxnId="{ED1D8688-B5AF-48E2-BD4F-FB47BAAE5B48}">
      <dgm:prSet/>
      <dgm:spPr/>
      <dgm:t>
        <a:bodyPr/>
        <a:lstStyle/>
        <a:p>
          <a:endParaRPr lang="en-US"/>
        </a:p>
      </dgm:t>
    </dgm:pt>
    <dgm:pt modelId="{5B336407-60C3-4BA4-B995-506C78FBA19D}">
      <dgm:prSet phldrT="[Text]" custT="1"/>
      <dgm:spPr/>
      <dgm:t>
        <a:bodyPr/>
        <a:lstStyle/>
        <a:p>
          <a:r>
            <a:rPr lang="en-US" sz="1800" dirty="0" smtClean="0"/>
            <a:t>Isolation</a:t>
          </a:r>
          <a:endParaRPr lang="en-US" sz="1800" dirty="0"/>
        </a:p>
      </dgm:t>
    </dgm:pt>
    <dgm:pt modelId="{11D3768A-3FFA-44BA-BC7E-CD2398F80E64}" type="parTrans" cxnId="{FA7CFE33-E37A-4101-B169-743B607B9C66}">
      <dgm:prSet/>
      <dgm:spPr/>
      <dgm:t>
        <a:bodyPr/>
        <a:lstStyle/>
        <a:p>
          <a:endParaRPr lang="en-US"/>
        </a:p>
      </dgm:t>
    </dgm:pt>
    <dgm:pt modelId="{B8D200BE-7F4E-4642-9900-50A2E3271AE4}" type="sibTrans" cxnId="{FA7CFE33-E37A-4101-B169-743B607B9C66}">
      <dgm:prSet/>
      <dgm:spPr/>
      <dgm:t>
        <a:bodyPr/>
        <a:lstStyle/>
        <a:p>
          <a:endParaRPr lang="en-US"/>
        </a:p>
      </dgm:t>
    </dgm:pt>
    <dgm:pt modelId="{9388EE5A-87B5-49D5-8331-7B6929607832}">
      <dgm:prSet phldrT="[Text]" custT="1"/>
      <dgm:spPr/>
      <dgm:t>
        <a:bodyPr/>
        <a:lstStyle/>
        <a:p>
          <a:r>
            <a:rPr lang="en-US" sz="1800" dirty="0" smtClean="0"/>
            <a:t>Durability</a:t>
          </a:r>
          <a:endParaRPr lang="en-US" sz="1800" dirty="0"/>
        </a:p>
      </dgm:t>
    </dgm:pt>
    <dgm:pt modelId="{A9A2A3E4-146E-443C-B827-ADD962AF4809}" type="parTrans" cxnId="{6D68556B-CE25-43ED-99DE-4CD162C45712}">
      <dgm:prSet/>
      <dgm:spPr/>
      <dgm:t>
        <a:bodyPr/>
        <a:lstStyle/>
        <a:p>
          <a:endParaRPr lang="en-US"/>
        </a:p>
      </dgm:t>
    </dgm:pt>
    <dgm:pt modelId="{85BFCD1E-2263-4B1F-A281-E4A5ED525601}" type="sibTrans" cxnId="{6D68556B-CE25-43ED-99DE-4CD162C45712}">
      <dgm:prSet/>
      <dgm:spPr/>
      <dgm:t>
        <a:bodyPr/>
        <a:lstStyle/>
        <a:p>
          <a:endParaRPr lang="en-US"/>
        </a:p>
      </dgm:t>
    </dgm:pt>
    <dgm:pt modelId="{CAD53929-A232-4610-B5F2-26F590C3F53A}" type="pres">
      <dgm:prSet presAssocID="{C96E4EF4-05C5-431D-B87D-90A7F21F6818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F57F9EC-D552-4166-9C5F-54468EB848C9}" type="pres">
      <dgm:prSet presAssocID="{C96E4EF4-05C5-431D-B87D-90A7F21F6818}" presName="radial" presStyleCnt="0">
        <dgm:presLayoutVars>
          <dgm:animLvl val="ctr"/>
        </dgm:presLayoutVars>
      </dgm:prSet>
      <dgm:spPr/>
    </dgm:pt>
    <dgm:pt modelId="{081C9F6F-649A-46D9-8ADF-19A9E8244F70}" type="pres">
      <dgm:prSet presAssocID="{12A53CC1-D532-48B3-A4E6-986748705A3C}" presName="centerShape" presStyleLbl="vennNode1" presStyleIdx="0" presStyleCnt="5" custLinFactNeighborX="672" custLinFactNeighborY="2228"/>
      <dgm:spPr/>
      <dgm:t>
        <a:bodyPr/>
        <a:lstStyle/>
        <a:p>
          <a:endParaRPr lang="en-US"/>
        </a:p>
      </dgm:t>
    </dgm:pt>
    <dgm:pt modelId="{1152ED77-3320-4909-9059-48FB958F5419}" type="pres">
      <dgm:prSet presAssocID="{99DEF1FA-5A56-4FC4-ADFF-FADE2385CF08}" presName="node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7A54E8-CF0F-4C71-AA06-DFA538C2066D}" type="pres">
      <dgm:prSet presAssocID="{743CDFAC-9D92-4045-A3AE-666CF4C5C2DF}" presName="node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9246EA-7351-40D4-8749-6E823C4B9D7C}" type="pres">
      <dgm:prSet presAssocID="{5B336407-60C3-4BA4-B995-506C78FBA19D}" presName="node" presStyleLbl="venn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A2CCAB-69B0-466C-A594-58038E73C299}" type="pres">
      <dgm:prSet presAssocID="{9388EE5A-87B5-49D5-8331-7B6929607832}" presName="node" presStyleLbl="venn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86B53BE-130A-4026-AF6E-92E4C087EA6D}" type="presOf" srcId="{12A53CC1-D532-48B3-A4E6-986748705A3C}" destId="{081C9F6F-649A-46D9-8ADF-19A9E8244F70}" srcOrd="0" destOrd="0" presId="urn:microsoft.com/office/officeart/2005/8/layout/radial3"/>
    <dgm:cxn modelId="{B8CB943E-F9F7-432F-8412-8905DBCD5275}" srcId="{C96E4EF4-05C5-431D-B87D-90A7F21F6818}" destId="{12A53CC1-D532-48B3-A4E6-986748705A3C}" srcOrd="0" destOrd="0" parTransId="{48AA0BBB-F05A-44B5-9CB8-FADB098DE59C}" sibTransId="{96C1DA48-C29A-42F7-97B7-F91496CB3E70}"/>
    <dgm:cxn modelId="{FA7CFE33-E37A-4101-B169-743B607B9C66}" srcId="{12A53CC1-D532-48B3-A4E6-986748705A3C}" destId="{5B336407-60C3-4BA4-B995-506C78FBA19D}" srcOrd="2" destOrd="0" parTransId="{11D3768A-3FFA-44BA-BC7E-CD2398F80E64}" sibTransId="{B8D200BE-7F4E-4642-9900-50A2E3271AE4}"/>
    <dgm:cxn modelId="{D4D6DAB4-A2B1-4401-95E2-CDD477CC5694}" srcId="{12A53CC1-D532-48B3-A4E6-986748705A3C}" destId="{99DEF1FA-5A56-4FC4-ADFF-FADE2385CF08}" srcOrd="0" destOrd="0" parTransId="{E93FFDFE-3296-4C14-9C51-D8FEFD200117}" sibTransId="{A823CE2F-D5ED-4F08-9345-C4ED7BCE3D43}"/>
    <dgm:cxn modelId="{ED1D8688-B5AF-48E2-BD4F-FB47BAAE5B48}" srcId="{12A53CC1-D532-48B3-A4E6-986748705A3C}" destId="{743CDFAC-9D92-4045-A3AE-666CF4C5C2DF}" srcOrd="1" destOrd="0" parTransId="{D103AB21-8CC7-4B07-BDE7-B74F4DF0FAF3}" sibTransId="{843B38B6-D5CC-4BD9-ADC3-9D17ECC812AC}"/>
    <dgm:cxn modelId="{5B82324A-EE11-4108-9CC4-A9BBC4267FC4}" type="presOf" srcId="{9388EE5A-87B5-49D5-8331-7B6929607832}" destId="{49A2CCAB-69B0-466C-A594-58038E73C299}" srcOrd="0" destOrd="0" presId="urn:microsoft.com/office/officeart/2005/8/layout/radial3"/>
    <dgm:cxn modelId="{44A8B4D8-B913-4A74-9BC6-E2C1C8EC452B}" type="presOf" srcId="{5B336407-60C3-4BA4-B995-506C78FBA19D}" destId="{3D9246EA-7351-40D4-8749-6E823C4B9D7C}" srcOrd="0" destOrd="0" presId="urn:microsoft.com/office/officeart/2005/8/layout/radial3"/>
    <dgm:cxn modelId="{A1A13C3C-D039-4B1F-AFEE-4D9D8070DA4F}" type="presOf" srcId="{99DEF1FA-5A56-4FC4-ADFF-FADE2385CF08}" destId="{1152ED77-3320-4909-9059-48FB958F5419}" srcOrd="0" destOrd="0" presId="urn:microsoft.com/office/officeart/2005/8/layout/radial3"/>
    <dgm:cxn modelId="{C961AE86-9917-4429-9D19-38007DFB2F5F}" type="presOf" srcId="{743CDFAC-9D92-4045-A3AE-666CF4C5C2DF}" destId="{F87A54E8-CF0F-4C71-AA06-DFA538C2066D}" srcOrd="0" destOrd="0" presId="urn:microsoft.com/office/officeart/2005/8/layout/radial3"/>
    <dgm:cxn modelId="{DC6FFCE2-55D3-43C2-A26C-0100957F2306}" type="presOf" srcId="{C96E4EF4-05C5-431D-B87D-90A7F21F6818}" destId="{CAD53929-A232-4610-B5F2-26F590C3F53A}" srcOrd="0" destOrd="0" presId="urn:microsoft.com/office/officeart/2005/8/layout/radial3"/>
    <dgm:cxn modelId="{6D68556B-CE25-43ED-99DE-4CD162C45712}" srcId="{12A53CC1-D532-48B3-A4E6-986748705A3C}" destId="{9388EE5A-87B5-49D5-8331-7B6929607832}" srcOrd="3" destOrd="0" parTransId="{A9A2A3E4-146E-443C-B827-ADD962AF4809}" sibTransId="{85BFCD1E-2263-4B1F-A281-E4A5ED525601}"/>
    <dgm:cxn modelId="{E178AE3D-ADC4-4ADA-8B2F-BB976FB38256}" type="presParOf" srcId="{CAD53929-A232-4610-B5F2-26F590C3F53A}" destId="{9F57F9EC-D552-4166-9C5F-54468EB848C9}" srcOrd="0" destOrd="0" presId="urn:microsoft.com/office/officeart/2005/8/layout/radial3"/>
    <dgm:cxn modelId="{E1FB8039-25A6-4B54-969C-6E85FAA23F6A}" type="presParOf" srcId="{9F57F9EC-D552-4166-9C5F-54468EB848C9}" destId="{081C9F6F-649A-46D9-8ADF-19A9E8244F70}" srcOrd="0" destOrd="0" presId="urn:microsoft.com/office/officeart/2005/8/layout/radial3"/>
    <dgm:cxn modelId="{3669BC63-8F75-4FBA-924E-DF139A4FBF7F}" type="presParOf" srcId="{9F57F9EC-D552-4166-9C5F-54468EB848C9}" destId="{1152ED77-3320-4909-9059-48FB958F5419}" srcOrd="1" destOrd="0" presId="urn:microsoft.com/office/officeart/2005/8/layout/radial3"/>
    <dgm:cxn modelId="{839DED07-6371-4257-A795-92F5FB5FC38E}" type="presParOf" srcId="{9F57F9EC-D552-4166-9C5F-54468EB848C9}" destId="{F87A54E8-CF0F-4C71-AA06-DFA538C2066D}" srcOrd="2" destOrd="0" presId="urn:microsoft.com/office/officeart/2005/8/layout/radial3"/>
    <dgm:cxn modelId="{EFE40720-D0BA-4869-8669-8367157E3214}" type="presParOf" srcId="{9F57F9EC-D552-4166-9C5F-54468EB848C9}" destId="{3D9246EA-7351-40D4-8749-6E823C4B9D7C}" srcOrd="3" destOrd="0" presId="urn:microsoft.com/office/officeart/2005/8/layout/radial3"/>
    <dgm:cxn modelId="{C2E180D5-340D-4359-B578-EA0D401DA0EC}" type="presParOf" srcId="{9F57F9EC-D552-4166-9C5F-54468EB848C9}" destId="{49A2CCAB-69B0-466C-A594-58038E73C299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41F398-1D1D-484A-BCD1-FA3B75A2ABF2}">
      <dsp:nvSpPr>
        <dsp:cNvPr id="0" name=""/>
        <dsp:cNvSpPr/>
      </dsp:nvSpPr>
      <dsp:spPr>
        <a:xfrm>
          <a:off x="1905474" y="365760"/>
          <a:ext cx="4551680" cy="4551680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Volume</a:t>
          </a:r>
          <a:r>
            <a:rPr lang="fa-IR" sz="3200" kern="1200" dirty="0" smtClean="0"/>
            <a:t> حجم</a:t>
          </a:r>
          <a:endParaRPr lang="en-US" sz="3200" kern="1200" dirty="0"/>
        </a:p>
      </dsp:txBody>
      <dsp:txXfrm>
        <a:off x="4380179" y="1205653"/>
        <a:ext cx="1544320" cy="1517226"/>
      </dsp:txXfrm>
    </dsp:sp>
    <dsp:sp modelId="{1A753D5B-F812-4E4E-B7B8-B8E0C626126B}">
      <dsp:nvSpPr>
        <dsp:cNvPr id="0" name=""/>
        <dsp:cNvSpPr/>
      </dsp:nvSpPr>
      <dsp:spPr>
        <a:xfrm>
          <a:off x="1670845" y="501226"/>
          <a:ext cx="4551680" cy="4551680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Velocity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3200" kern="1200" dirty="0" smtClean="0"/>
            <a:t>سرعت</a:t>
          </a:r>
          <a:endParaRPr lang="en-US" sz="3200" kern="1200" dirty="0"/>
        </a:p>
      </dsp:txBody>
      <dsp:txXfrm>
        <a:off x="2917139" y="3373120"/>
        <a:ext cx="2059093" cy="1408853"/>
      </dsp:txXfrm>
    </dsp:sp>
    <dsp:sp modelId="{5A092FD8-17E7-437A-B095-7C6ABC2C0494}">
      <dsp:nvSpPr>
        <dsp:cNvPr id="0" name=""/>
        <dsp:cNvSpPr/>
      </dsp:nvSpPr>
      <dsp:spPr>
        <a:xfrm>
          <a:off x="1670845" y="501226"/>
          <a:ext cx="4551680" cy="4551680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3200" kern="1200" dirty="0" smtClean="0"/>
            <a:t>تنوع</a:t>
          </a:r>
        </a:p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kern="1200" dirty="0" smtClean="0"/>
            <a:t>variety</a:t>
          </a:r>
          <a:endParaRPr lang="en-US" sz="3200" kern="1200" dirty="0"/>
        </a:p>
      </dsp:txBody>
      <dsp:txXfrm>
        <a:off x="2158525" y="1395306"/>
        <a:ext cx="1544320" cy="15172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EAB051-66CC-46B1-9D3B-F6B5DC1CD8A1}">
      <dsp:nvSpPr>
        <dsp:cNvPr id="0" name=""/>
        <dsp:cNvSpPr/>
      </dsp:nvSpPr>
      <dsp:spPr>
        <a:xfrm>
          <a:off x="96855" y="2096039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4800" kern="1200" smtClean="0">
              <a:solidFill>
                <a:schemeClr val="bg1"/>
              </a:solidFill>
              <a:cs typeface="B Nazanin" panose="00000400000000000000" pitchFamily="2" charset="-78"/>
            </a:rPr>
            <a:t>داده</a:t>
          </a:r>
          <a:endParaRPr lang="en-US" sz="4800" kern="1200" dirty="0">
            <a:solidFill>
              <a:schemeClr val="bg1"/>
            </a:solidFill>
            <a:cs typeface="B Nazanin" panose="00000400000000000000" pitchFamily="2" charset="-78"/>
          </a:endParaRPr>
        </a:p>
      </dsp:txBody>
      <dsp:txXfrm>
        <a:off x="134377" y="2133561"/>
        <a:ext cx="2060143" cy="1206068"/>
      </dsp:txXfrm>
    </dsp:sp>
    <dsp:sp modelId="{B500609E-DA67-41F3-9C7C-2AA1E9F5DCD3}">
      <dsp:nvSpPr>
        <dsp:cNvPr id="0" name=""/>
        <dsp:cNvSpPr/>
      </dsp:nvSpPr>
      <dsp:spPr>
        <a:xfrm rot="21589388">
          <a:off x="2431806" y="2467266"/>
          <a:ext cx="423501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2431806" y="2573367"/>
        <a:ext cx="296451" cy="317716"/>
      </dsp:txXfrm>
    </dsp:sp>
    <dsp:sp modelId="{7E8BA453-274E-4AD8-8F2C-C2B6F6E4020C}">
      <dsp:nvSpPr>
        <dsp:cNvPr id="0" name=""/>
        <dsp:cNvSpPr/>
      </dsp:nvSpPr>
      <dsp:spPr>
        <a:xfrm>
          <a:off x="3031098" y="2086981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4800" kern="1200" smtClean="0">
              <a:solidFill>
                <a:schemeClr val="bg1"/>
              </a:solidFill>
              <a:cs typeface="B Nazanin" panose="00000400000000000000" pitchFamily="2" charset="-78"/>
            </a:rPr>
            <a:t>اطلاعات</a:t>
          </a:r>
          <a:endParaRPr lang="en-US" sz="4800" kern="1200" dirty="0">
            <a:solidFill>
              <a:schemeClr val="bg1"/>
            </a:solidFill>
            <a:cs typeface="B Nazanin" panose="00000400000000000000" pitchFamily="2" charset="-78"/>
          </a:endParaRPr>
        </a:p>
      </dsp:txBody>
      <dsp:txXfrm>
        <a:off x="3068620" y="2124503"/>
        <a:ext cx="2060143" cy="1206068"/>
      </dsp:txXfrm>
    </dsp:sp>
    <dsp:sp modelId="{CD493DE3-EC93-4290-BFF7-A7C4086772F8}">
      <dsp:nvSpPr>
        <dsp:cNvPr id="0" name=""/>
        <dsp:cNvSpPr/>
      </dsp:nvSpPr>
      <dsp:spPr>
        <a:xfrm rot="21578819">
          <a:off x="5371127" y="2453596"/>
          <a:ext cx="434280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300" kern="1200"/>
        </a:p>
      </dsp:txBody>
      <dsp:txXfrm>
        <a:off x="5371128" y="2559902"/>
        <a:ext cx="303996" cy="317716"/>
      </dsp:txXfrm>
    </dsp:sp>
    <dsp:sp modelId="{2534383C-6414-47BF-B283-79D6042CD74C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a-IR" sz="4800" kern="1200" smtClean="0">
              <a:solidFill>
                <a:schemeClr val="bg1"/>
              </a:solidFill>
              <a:cs typeface="B Nazanin" panose="00000400000000000000" pitchFamily="2" charset="-78"/>
            </a:rPr>
            <a:t>دانش</a:t>
          </a:r>
          <a:endParaRPr lang="en-US" sz="4800" kern="1200" dirty="0">
            <a:solidFill>
              <a:schemeClr val="bg1"/>
            </a:solidFill>
            <a:cs typeface="B Nazanin" panose="00000400000000000000" pitchFamily="2" charset="-78"/>
          </a:endParaRPr>
        </a:p>
      </dsp:txBody>
      <dsp:txXfrm>
        <a:off x="6023190" y="2106299"/>
        <a:ext cx="2060143" cy="1206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C9F6F-649A-46D9-8ADF-19A9E8244F70}">
      <dsp:nvSpPr>
        <dsp:cNvPr id="0" name=""/>
        <dsp:cNvSpPr/>
      </dsp:nvSpPr>
      <dsp:spPr>
        <a:xfrm>
          <a:off x="3363392" y="1492112"/>
          <a:ext cx="3466584" cy="3466584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ACID</a:t>
          </a:r>
          <a:endParaRPr lang="en-US" sz="6500" kern="1200" dirty="0"/>
        </a:p>
      </dsp:txBody>
      <dsp:txXfrm>
        <a:off x="3871061" y="1999781"/>
        <a:ext cx="2451246" cy="2451246"/>
      </dsp:txXfrm>
    </dsp:sp>
    <dsp:sp modelId="{1152ED77-3320-4909-9059-48FB958F5419}">
      <dsp:nvSpPr>
        <dsp:cNvPr id="0" name=""/>
        <dsp:cNvSpPr/>
      </dsp:nvSpPr>
      <dsp:spPr>
        <a:xfrm>
          <a:off x="4199697" y="618"/>
          <a:ext cx="1733292" cy="17332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Atomicity</a:t>
          </a:r>
          <a:endParaRPr lang="en-US" sz="1800" kern="1200" dirty="0"/>
        </a:p>
      </dsp:txBody>
      <dsp:txXfrm>
        <a:off x="4453532" y="254453"/>
        <a:ext cx="1225622" cy="1225622"/>
      </dsp:txXfrm>
    </dsp:sp>
    <dsp:sp modelId="{F87A54E8-CF0F-4C71-AA06-DFA538C2066D}">
      <dsp:nvSpPr>
        <dsp:cNvPr id="0" name=""/>
        <dsp:cNvSpPr/>
      </dsp:nvSpPr>
      <dsp:spPr>
        <a:xfrm>
          <a:off x="6457241" y="2258162"/>
          <a:ext cx="1733292" cy="17332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consistency</a:t>
          </a:r>
          <a:endParaRPr lang="en-US" sz="1800" kern="1200" dirty="0"/>
        </a:p>
      </dsp:txBody>
      <dsp:txXfrm>
        <a:off x="6711076" y="2511997"/>
        <a:ext cx="1225622" cy="1225622"/>
      </dsp:txXfrm>
    </dsp:sp>
    <dsp:sp modelId="{3D9246EA-7351-40D4-8749-6E823C4B9D7C}">
      <dsp:nvSpPr>
        <dsp:cNvPr id="0" name=""/>
        <dsp:cNvSpPr/>
      </dsp:nvSpPr>
      <dsp:spPr>
        <a:xfrm>
          <a:off x="4199697" y="4515706"/>
          <a:ext cx="1733292" cy="17332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Isolation</a:t>
          </a:r>
          <a:endParaRPr lang="en-US" sz="1800" kern="1200" dirty="0"/>
        </a:p>
      </dsp:txBody>
      <dsp:txXfrm>
        <a:off x="4453532" y="4769541"/>
        <a:ext cx="1225622" cy="1225622"/>
      </dsp:txXfrm>
    </dsp:sp>
    <dsp:sp modelId="{49A2CCAB-69B0-466C-A594-58038E73C299}">
      <dsp:nvSpPr>
        <dsp:cNvPr id="0" name=""/>
        <dsp:cNvSpPr/>
      </dsp:nvSpPr>
      <dsp:spPr>
        <a:xfrm>
          <a:off x="1942153" y="2258162"/>
          <a:ext cx="1733292" cy="173329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Durability</a:t>
          </a:r>
          <a:endParaRPr lang="en-US" sz="1800" kern="1200" dirty="0"/>
        </a:p>
      </dsp:txBody>
      <dsp:txXfrm>
        <a:off x="2195988" y="2511997"/>
        <a:ext cx="1225622" cy="12256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828337"/>
            <a:ext cx="7766936" cy="1646302"/>
          </a:xfrm>
        </p:spPr>
        <p:txBody>
          <a:bodyPr/>
          <a:lstStyle/>
          <a:p>
            <a:pPr algn="ctr"/>
            <a:r>
              <a:rPr lang="fa-IR" sz="9600" dirty="0" smtClean="0">
                <a:cs typeface="B Nazanin" panose="00000400000000000000" pitchFamily="2" charset="-78"/>
              </a:rPr>
              <a:t>پایگاه داده </a:t>
            </a:r>
            <a:endParaRPr lang="fa-IR" sz="9600" dirty="0">
              <a:cs typeface="B Nazanin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2800" dirty="0" smtClean="0">
                <a:cs typeface="B Nazanin" panose="00000400000000000000" pitchFamily="2" charset="-78"/>
              </a:rPr>
              <a:t>استاد درس:  نسرین جمشیدی صالح</a:t>
            </a:r>
          </a:p>
          <a:p>
            <a:pPr algn="ctr"/>
            <a:r>
              <a:rPr lang="fa-IR" sz="2800" dirty="0" smtClean="0">
                <a:cs typeface="B Nazanin" panose="00000400000000000000" pitchFamily="2" charset="-78"/>
              </a:rPr>
              <a:t>دکتری هوش مصنوعی و رباتیکز </a:t>
            </a:r>
            <a:endParaRPr lang="fa-IR" sz="28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8760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فصل اول: مفاهیم اولیه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4580" y="1822386"/>
            <a:ext cx="5954605" cy="3880773"/>
          </a:xfrm>
        </p:spPr>
        <p:txBody>
          <a:bodyPr/>
          <a:lstStyle/>
          <a:p>
            <a:r>
              <a:rPr lang="fa-IR" sz="2800" dirty="0" smtClean="0">
                <a:cs typeface="B Nazanin" panose="00000400000000000000" pitchFamily="2" charset="-78"/>
              </a:rPr>
              <a:t>مفاهیم امروزی در داده‌ها </a:t>
            </a:r>
          </a:p>
          <a:p>
            <a:r>
              <a:rPr lang="fa-IR" sz="2800" dirty="0" smtClean="0">
                <a:cs typeface="B Nazanin" panose="00000400000000000000" pitchFamily="2" charset="-78"/>
              </a:rPr>
              <a:t>مفهوم تراکنش</a:t>
            </a:r>
          </a:p>
          <a:p>
            <a:r>
              <a:rPr lang="fa-IR" sz="2800" dirty="0" smtClean="0">
                <a:cs typeface="B Nazanin" panose="00000400000000000000" pitchFamily="2" charset="-78"/>
              </a:rPr>
              <a:t>ویژگی‌های تراکنش‌ها</a:t>
            </a:r>
          </a:p>
          <a:p>
            <a:r>
              <a:rPr lang="fa-IR" sz="2800" dirty="0">
                <a:cs typeface="B Nazanin" panose="00000400000000000000" pitchFamily="2" charset="-78"/>
              </a:rPr>
              <a:t> </a:t>
            </a:r>
            <a:r>
              <a:rPr lang="fa-IR" sz="2800" dirty="0" smtClean="0">
                <a:cs typeface="B Nazanin" panose="00000400000000000000" pitchFamily="2" charset="-78"/>
              </a:rPr>
              <a:t>ایمنی و امنیت اطلاعات و خصوصی سازی</a:t>
            </a:r>
          </a:p>
          <a:p>
            <a:pPr marL="0" indent="0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47213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21085"/>
            <a:ext cx="8596668" cy="1320800"/>
          </a:xfrm>
        </p:spPr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مفاهیم امروزی در داده‌ها: 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701459"/>
            <a:ext cx="9293384" cy="5862180"/>
          </a:xfrm>
        </p:spPr>
        <p:txBody>
          <a:bodyPr>
            <a:normAutofit fontScale="92500" lnSpcReduction="10000"/>
          </a:bodyPr>
          <a:lstStyle/>
          <a:p>
            <a:r>
              <a:rPr lang="fa-IR" sz="2400" dirty="0" smtClean="0">
                <a:cs typeface="B Nazanin" panose="00000400000000000000" pitchFamily="2" charset="-78"/>
              </a:rPr>
              <a:t> تعریف داده (</a:t>
            </a:r>
            <a:r>
              <a:rPr lang="en-US" sz="2400" dirty="0" smtClean="0">
                <a:cs typeface="B Nazanin" panose="00000400000000000000" pitchFamily="2" charset="-78"/>
              </a:rPr>
              <a:t>data</a:t>
            </a:r>
            <a:r>
              <a:rPr lang="fa-IR" sz="2400" dirty="0" smtClean="0">
                <a:cs typeface="B Nazanin" panose="00000400000000000000" pitchFamily="2" charset="-78"/>
              </a:rPr>
              <a:t>) : هر موجودیت قابل مشاهده – اطلاعات خام و تغییر نیافته 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تعریف کلان داده‌ها ( </a:t>
            </a:r>
            <a:r>
              <a:rPr lang="en-US" sz="2400" dirty="0" smtClean="0">
                <a:cs typeface="B Nazanin" panose="00000400000000000000" pitchFamily="2" charset="-78"/>
              </a:rPr>
              <a:t>big data</a:t>
            </a:r>
            <a:r>
              <a:rPr lang="fa-IR" sz="2400" dirty="0" smtClean="0">
                <a:cs typeface="B Nazanin" panose="00000400000000000000" pitchFamily="2" charset="-78"/>
              </a:rPr>
              <a:t>) : مجموعه‌ای بزرگ داده‌ها و ترکیبی از داده‌های ساختاریافته و یا نیمه ساختاریافته و یا بدون ساختار و دارای ارتباطات پیچیده میان داده است.- پردازش آنها با روش‌های سنتی غیرممکن است. 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ویژگی‌های کلان داده‌ها: </a:t>
            </a:r>
          </a:p>
          <a:p>
            <a:pPr marL="457200" indent="-457200">
              <a:buFont typeface="+mj-lt"/>
              <a:buAutoNum type="arabicPeriod"/>
            </a:pPr>
            <a:r>
              <a:rPr lang="fa-IR" sz="2400" dirty="0" smtClean="0">
                <a:cs typeface="B Nazanin" panose="00000400000000000000" pitchFamily="2" charset="-78"/>
              </a:rPr>
              <a:t>حجم داده :سازمانها داده‌ها را از منابع مختلف شامل تراکنش‌های کاری، ویدیو و تجهیزات و شبکه اجتماعی و ... جمع آوری می‌کنند. نگهداری این </a:t>
            </a:r>
            <a:r>
              <a:rPr lang="fa-IR" sz="2400" smtClean="0">
                <a:cs typeface="B Nazanin" panose="00000400000000000000" pitchFamily="2" charset="-78"/>
              </a:rPr>
              <a:t>حجم </a:t>
            </a:r>
            <a:r>
              <a:rPr lang="fa-IR" sz="2400" smtClean="0">
                <a:cs typeface="B Nazanin" panose="00000400000000000000" pitchFamily="2" charset="-78"/>
              </a:rPr>
              <a:t>اطلاعات </a:t>
            </a:r>
            <a:r>
              <a:rPr lang="fa-IR" sz="2400" dirty="0" smtClean="0">
                <a:cs typeface="B Nazanin" panose="00000400000000000000" pitchFamily="2" charset="-78"/>
              </a:rPr>
              <a:t>بسیار مشکل است که امروزه با پلتفرم‌هایی مانند </a:t>
            </a:r>
            <a:r>
              <a:rPr lang="en-US" sz="2400" dirty="0" smtClean="0">
                <a:cs typeface="B Nazanin" panose="00000400000000000000" pitchFamily="2" charset="-78"/>
              </a:rPr>
              <a:t>Hadoop , data lakes</a:t>
            </a:r>
            <a:r>
              <a:rPr lang="fa-IR" sz="2400" dirty="0" smtClean="0">
                <a:cs typeface="B Nazanin" panose="00000400000000000000" pitchFamily="2" charset="-78"/>
              </a:rPr>
              <a:t>  انجام می‌شود</a:t>
            </a:r>
          </a:p>
          <a:p>
            <a:pPr marL="457200" indent="-457200">
              <a:buFont typeface="+mj-lt"/>
              <a:buAutoNum type="arabicPeriod"/>
            </a:pPr>
            <a:r>
              <a:rPr lang="fa-IR" sz="2400" dirty="0" smtClean="0">
                <a:cs typeface="B Nazanin" panose="00000400000000000000" pitchFamily="2" charset="-78"/>
              </a:rPr>
              <a:t>سرعت: اهمیت سرعت پردازش این داده‌ها بسیار مهم است و استفاده از سنسورها و معیارهای هوشمند ، استفاده از بیگ دیتا را در کمترین زمان ممکن می سازد.</a:t>
            </a:r>
          </a:p>
          <a:p>
            <a:pPr marL="457200" indent="-457200">
              <a:buFont typeface="+mj-lt"/>
              <a:buAutoNum type="arabicPeriod"/>
            </a:pPr>
            <a:r>
              <a:rPr lang="fa-IR" sz="2400" dirty="0" smtClean="0">
                <a:cs typeface="B Nazanin" panose="00000400000000000000" pitchFamily="2" charset="-78"/>
              </a:rPr>
              <a:t> تنوع : تنوع در فرمت های داده ها مانند داده های عددی، بانک های اطلاعات قدیمی، اسناد متنی ایمیل‌ها و ...</a:t>
            </a:r>
          </a:p>
          <a:p>
            <a:pPr marL="457200" indent="-457200">
              <a:buFont typeface="+mj-lt"/>
              <a:buAutoNum type="arabicPeriod"/>
            </a:pPr>
            <a:r>
              <a:rPr lang="fa-IR" sz="2400" dirty="0" smtClean="0">
                <a:cs typeface="B Nazanin" panose="00000400000000000000" pitchFamily="2" charset="-78"/>
              </a:rPr>
              <a:t> پیچیدگی: پیچیدگی زیاد 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مثال : مجموعه داده‌های تعداد زیادی از بیماران مبتلا به کرونا در سنین مختلف و گروه‌های متنوع – سیستم پیشنهادات محصول با استفاده از کلان داده‌ها</a:t>
            </a:r>
          </a:p>
          <a:p>
            <a:pPr marL="0" indent="0">
              <a:buNone/>
            </a:pPr>
            <a:endParaRPr lang="en-US" sz="2400" dirty="0" smtClean="0">
              <a:cs typeface="B Nazanin" panose="00000400000000000000" pitchFamily="2" charset="-78"/>
            </a:endParaRPr>
          </a:p>
          <a:p>
            <a:endParaRPr lang="fa-IR" sz="2400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400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9368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sz="2800" dirty="0" smtClean="0">
                <a:cs typeface="B Nazanin" panose="00000400000000000000" pitchFamily="2" charset="-78"/>
              </a:rPr>
              <a:t> قاعده </a:t>
            </a:r>
            <a:r>
              <a:rPr lang="en-US" sz="2800" dirty="0" smtClean="0">
                <a:cs typeface="B Nazanin" panose="00000400000000000000" pitchFamily="2" charset="-78"/>
              </a:rPr>
              <a:t>3v</a:t>
            </a:r>
            <a:r>
              <a:rPr lang="fa-IR" sz="2800" dirty="0" smtClean="0">
                <a:cs typeface="B Nazanin" panose="00000400000000000000" pitchFamily="2" charset="-78"/>
              </a:rPr>
              <a:t>: </a:t>
            </a:r>
          </a:p>
          <a:p>
            <a:endParaRPr lang="fa-IR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15024943"/>
              </p:ext>
            </p:extLst>
          </p:nvPr>
        </p:nvGraphicFramePr>
        <p:xfrm>
          <a:off x="165622" y="62269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005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069" y="557257"/>
            <a:ext cx="8596668" cy="3880773"/>
          </a:xfrm>
        </p:spPr>
        <p:txBody>
          <a:bodyPr>
            <a:norm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 تعریف علم داده (</a:t>
            </a:r>
            <a:r>
              <a:rPr lang="en-US" sz="2400" dirty="0">
                <a:cs typeface="B Nazanin" panose="00000400000000000000" pitchFamily="2" charset="-78"/>
              </a:rPr>
              <a:t>data science </a:t>
            </a:r>
            <a:r>
              <a:rPr lang="fa-IR" sz="2400" dirty="0" smtClean="0">
                <a:cs typeface="B Nazanin" panose="00000400000000000000" pitchFamily="2" charset="-78"/>
              </a:rPr>
              <a:t>) : تجزیه و تحلیل داده‌های کسب و کار و استخراج اطلاعات مفید و بینش های مخفی در داده‌ها، برای کمک در تصمیم گیری و برنامه ریزی – مهارت در مدیریت و تحلیل داده‌های کلان دارد.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2" b="7580"/>
          <a:stretch/>
        </p:blipFill>
        <p:spPr>
          <a:xfrm>
            <a:off x="2288600" y="2218498"/>
            <a:ext cx="6016479" cy="383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02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386" y="1321345"/>
            <a:ext cx="8596668" cy="3880773"/>
          </a:xfrm>
        </p:spPr>
        <p:txBody>
          <a:bodyPr>
            <a:normAutofit/>
          </a:bodyPr>
          <a:lstStyle/>
          <a:p>
            <a:r>
              <a:rPr lang="fa-IR" sz="2800" dirty="0">
                <a:cs typeface="B Nazanin" panose="00000400000000000000" pitchFamily="2" charset="-78"/>
              </a:rPr>
              <a:t>تعریف اطلاعات (</a:t>
            </a:r>
            <a:r>
              <a:rPr lang="en-US" sz="2800" dirty="0">
                <a:cs typeface="B Nazanin" panose="00000400000000000000" pitchFamily="2" charset="-78"/>
              </a:rPr>
              <a:t>information </a:t>
            </a:r>
            <a:r>
              <a:rPr lang="fa-IR" sz="2800" dirty="0">
                <a:cs typeface="B Nazanin" panose="00000400000000000000" pitchFamily="2" charset="-78"/>
              </a:rPr>
              <a:t>) : داده‌های پردازش شده-داده‌های سازماندهی شده و آراسته و معنادار و تفسیر شده</a:t>
            </a:r>
          </a:p>
          <a:p>
            <a:r>
              <a:rPr lang="fa-IR" sz="2800" dirty="0">
                <a:cs typeface="B Nazanin" panose="00000400000000000000" pitchFamily="2" charset="-78"/>
              </a:rPr>
              <a:t>تعریف دانش: (</a:t>
            </a:r>
            <a:r>
              <a:rPr lang="en-US" sz="2800" dirty="0" smtClean="0">
                <a:cs typeface="B Nazanin" panose="00000400000000000000" pitchFamily="2" charset="-78"/>
              </a:rPr>
              <a:t>knowledge</a:t>
            </a:r>
            <a:r>
              <a:rPr lang="fa-IR" sz="2800" dirty="0" smtClean="0">
                <a:cs typeface="B Nazanin" panose="00000400000000000000" pitchFamily="2" charset="-78"/>
              </a:rPr>
              <a:t>) : نمایش </a:t>
            </a:r>
            <a:r>
              <a:rPr lang="fa-IR" sz="2800" dirty="0">
                <a:cs typeface="B Nazanin" panose="00000400000000000000" pitchFamily="2" charset="-78"/>
              </a:rPr>
              <a:t>نمادین بخش کوچکی از جهان </a:t>
            </a:r>
            <a:r>
              <a:rPr lang="fa-IR" sz="2800" dirty="0" smtClean="0">
                <a:cs typeface="B Nazanin" panose="00000400000000000000" pitchFamily="2" charset="-78"/>
              </a:rPr>
              <a:t>واقعی</a:t>
            </a:r>
          </a:p>
          <a:p>
            <a:r>
              <a:rPr lang="fa-IR" sz="2800" dirty="0">
                <a:cs typeface="B Nazanin" panose="00000400000000000000" pitchFamily="2" charset="-78"/>
              </a:rPr>
              <a:t> </a:t>
            </a:r>
            <a:r>
              <a:rPr lang="fa-IR" sz="2800" dirty="0" smtClean="0">
                <a:cs typeface="B Nazanin" panose="00000400000000000000" pitchFamily="2" charset="-78"/>
              </a:rPr>
              <a:t>تعریف پایگاه داده: مجموعه‌ای از داده‌های ذخیره شده و پایا به صورت مجتمع و بهم مرتبط ، تحت مدیریت یک سیستم کنترل متمرکز ، مورد استفاده یک یا چند کاربر به صورت همزمان و اشتراکی را پایگاه داده گویند.</a:t>
            </a:r>
            <a:endParaRPr lang="fa-IR" sz="2800" dirty="0"/>
          </a:p>
          <a:p>
            <a:endParaRPr lang="fa-IR" sz="2800" dirty="0"/>
          </a:p>
        </p:txBody>
      </p:sp>
    </p:spTree>
    <p:extLst>
      <p:ext uri="{BB962C8B-B14F-4D97-AF65-F5344CB8AC3E}">
        <p14:creationId xmlns:p14="http://schemas.microsoft.com/office/powerpoint/2010/main" val="163065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b="1" dirty="0" smtClean="0">
                <a:cs typeface="B Nazanin" panose="00000400000000000000" pitchFamily="2" charset="-78"/>
              </a:rPr>
              <a:t>نکته مهم : داده‌ها از روی تجزیه و تحلیل دانش بدست می‌آیند</a:t>
            </a:r>
            <a:endParaRPr lang="fa-IR" b="1" dirty="0">
              <a:cs typeface="B Nazanin" panose="00000400000000000000" pitchFamily="2" charset="-78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184078230"/>
              </p:ext>
            </p:extLst>
          </p:nvPr>
        </p:nvGraphicFramePr>
        <p:xfrm>
          <a:off x="1267912" y="12700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Bent Arrow 5"/>
          <p:cNvSpPr/>
          <p:nvPr/>
        </p:nvSpPr>
        <p:spPr>
          <a:xfrm rot="10800000">
            <a:off x="2494766" y="4674117"/>
            <a:ext cx="6125227" cy="53671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>
              <a:solidFill>
                <a:schemeClr val="tx1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 rot="16200000">
            <a:off x="2212930" y="4665945"/>
            <a:ext cx="563671" cy="38830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179421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83" y="501040"/>
            <a:ext cx="10753774" cy="5880970"/>
          </a:xfrm>
        </p:spPr>
      </p:pic>
    </p:spTree>
    <p:extLst>
      <p:ext uri="{BB962C8B-B14F-4D97-AF65-F5344CB8AC3E}">
        <p14:creationId xmlns:p14="http://schemas.microsoft.com/office/powerpoint/2010/main" val="315689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مفهوم تراکنش: مجموعه‌ای از رخدادهای پشت سر هم روی داده‌ها به طوری که از یک نقطه آغاز و به یک نقطه پایان می‌یابد.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473739"/>
            <a:ext cx="8596668" cy="3880773"/>
          </a:xfrm>
        </p:spPr>
        <p:txBody>
          <a:bodyPr>
            <a:normAutofit/>
          </a:bodyPr>
          <a:lstStyle/>
          <a:p>
            <a:r>
              <a:rPr lang="fa-IR" sz="2800" dirty="0" smtClean="0">
                <a:cs typeface="B Nazanin" panose="00000400000000000000" pitchFamily="2" charset="-78"/>
              </a:rPr>
              <a:t>برگرداندن تراکنش </a:t>
            </a:r>
            <a:r>
              <a:rPr lang="en-US" sz="2800" dirty="0" smtClean="0">
                <a:cs typeface="B Nazanin" panose="00000400000000000000" pitchFamily="2" charset="-78"/>
              </a:rPr>
              <a:t>(Rollback)</a:t>
            </a:r>
          </a:p>
          <a:p>
            <a:r>
              <a:rPr lang="fa-IR" sz="2800" dirty="0" smtClean="0">
                <a:cs typeface="B Nazanin" panose="00000400000000000000" pitchFamily="2" charset="-78"/>
              </a:rPr>
              <a:t>اجرای ناقص تراکنش</a:t>
            </a:r>
          </a:p>
          <a:p>
            <a:r>
              <a:rPr lang="fa-IR" sz="2800" dirty="0" smtClean="0">
                <a:cs typeface="B Nazanin" panose="00000400000000000000" pitchFamily="2" charset="-78"/>
              </a:rPr>
              <a:t>تائید تراکنش </a:t>
            </a:r>
            <a:r>
              <a:rPr lang="en-US" sz="2800" dirty="0" smtClean="0">
                <a:cs typeface="B Nazanin" panose="00000400000000000000" pitchFamily="2" charset="-78"/>
              </a:rPr>
              <a:t>(commitment)</a:t>
            </a:r>
            <a:endParaRPr lang="fa-IR" sz="28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2657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964" y="0"/>
            <a:ext cx="8596668" cy="1320800"/>
          </a:xfrm>
        </p:spPr>
        <p:txBody>
          <a:bodyPr/>
          <a:lstStyle/>
          <a:p>
            <a:pPr algn="r"/>
            <a:r>
              <a:rPr lang="fa-IR" b="1" dirty="0" smtClean="0">
                <a:cs typeface="B Nazanin" panose="00000400000000000000" pitchFamily="2" charset="-78"/>
              </a:rPr>
              <a:t>ویژگی‌های تراکنش: </a:t>
            </a:r>
            <a:endParaRPr lang="fa-IR" b="1" dirty="0">
              <a:cs typeface="B Nazanin" panose="00000400000000000000" pitchFamily="2" charset="-78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884742" y="660400"/>
            <a:ext cx="8659558" cy="4470400"/>
          </a:xfrm>
        </p:spPr>
        <p:txBody>
          <a:bodyPr>
            <a:normAutofit fontScale="92500"/>
          </a:bodyPr>
          <a:lstStyle/>
          <a:p>
            <a:r>
              <a:rPr lang="fa-IR" sz="2400" dirty="0" smtClean="0">
                <a:cs typeface="B Nazanin" panose="00000400000000000000" pitchFamily="2" charset="-78"/>
              </a:rPr>
              <a:t>یکپارچه بودن: یک تراکنش یا باید به طور کامل اجرا شود و یا اصلا نباید اجرا شود.( یا همه یا هیچ)</a:t>
            </a:r>
          </a:p>
          <a:p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پایداری: اجرای تراکنش باید بتواند سیستم پایگاه داده را از وضعیت پایداری به یک وضعیت پایدار دیگر انتقال دهد.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 محدودیت تعریف شده در یک سیستم نباید با اجرای یک تراکنش نقض شده و یا به مخاطره بیفتد.</a:t>
            </a:r>
          </a:p>
          <a:p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ایزوله بودن: نتایج حاصل از اجرای یک تراکنش تا زمانی که اتمام تراکنش تائید نشده نباید در سیستم پایگاه داده‌ها قابل رویت باشد بلکه باید پس از تائید 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     تراکنش قابل رویت باشند.</a:t>
            </a:r>
          </a:p>
          <a:p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مانا بودن نتیجه اجرای تراکنش‌ها: بعد از اجرای موفقیت آمیز تراکنش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      تایید شده ، نتایج حاصل از اجرای این تراکنش باید در سیستم ذخیره شود .</a:t>
            </a:r>
            <a:endParaRPr lang="fa-IR" sz="2400" dirty="0">
              <a:cs typeface="B Nazanin" panose="00000400000000000000" pitchFamily="2" charset="-78"/>
            </a:endParaRPr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0054487"/>
              </p:ext>
            </p:extLst>
          </p:nvPr>
        </p:nvGraphicFramePr>
        <p:xfrm>
          <a:off x="-2283767" y="825500"/>
          <a:ext cx="10132687" cy="6249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3296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Graphic spid="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>
                <a:cs typeface="B Nazanin" panose="00000400000000000000" pitchFamily="2" charset="-78"/>
              </a:rPr>
              <a:t>ایمنی و امنیت اطلاعات و خصوصی </a:t>
            </a:r>
            <a:r>
              <a:rPr lang="fa-IR" dirty="0" smtClean="0">
                <a:cs typeface="B Nazanin" panose="00000400000000000000" pitchFamily="2" charset="-78"/>
              </a:rPr>
              <a:t>سازی:</a:t>
            </a:r>
            <a:r>
              <a:rPr lang="fa-IR" dirty="0">
                <a:cs typeface="B Nazanin" panose="00000400000000000000" pitchFamily="2" charset="-78"/>
              </a:rPr>
              <a:t/>
            </a:r>
            <a:br>
              <a:rPr lang="fa-IR" dirty="0">
                <a:cs typeface="B Nazanin" panose="00000400000000000000" pitchFamily="2" charset="-78"/>
              </a:rPr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43" y="1697126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fa-IR" sz="2400" dirty="0" smtClean="0">
                <a:cs typeface="B Nazanin" panose="00000400000000000000" pitchFamily="2" charset="-78"/>
              </a:rPr>
              <a:t>ایمنی اطلاعات</a:t>
            </a:r>
            <a:r>
              <a:rPr lang="en-US" sz="2400" dirty="0" smtClean="0">
                <a:cs typeface="B Nazanin" panose="00000400000000000000" pitchFamily="2" charset="-78"/>
              </a:rPr>
              <a:t>(safety information)</a:t>
            </a:r>
            <a:r>
              <a:rPr lang="fa-IR" sz="2400" dirty="0" smtClean="0">
                <a:cs typeface="B Nazanin" panose="00000400000000000000" pitchFamily="2" charset="-78"/>
              </a:rPr>
              <a:t> : مکانیزمی حفاظتی برای مقابله با عوامل آسیب رساننده( غیرانسانی ) به اطلاعات ذخیره شده </a:t>
            </a:r>
          </a:p>
          <a:p>
            <a:endParaRPr lang="fa-IR" sz="2400" dirty="0">
              <a:cs typeface="B Nazanin" panose="00000400000000000000" pitchFamily="2" charset="-78"/>
            </a:endParaRPr>
          </a:p>
          <a:p>
            <a:r>
              <a:rPr lang="fa-IR" sz="2400" dirty="0" smtClean="0">
                <a:cs typeface="B Nazanin" panose="00000400000000000000" pitchFamily="2" charset="-78"/>
              </a:rPr>
              <a:t>امنیت اطلاعات </a:t>
            </a:r>
            <a:r>
              <a:rPr lang="en-US" sz="2400" dirty="0" smtClean="0">
                <a:cs typeface="B Nazanin" panose="00000400000000000000" pitchFamily="2" charset="-78"/>
              </a:rPr>
              <a:t>(security information)</a:t>
            </a:r>
            <a:r>
              <a:rPr lang="fa-IR" sz="2400" dirty="0" smtClean="0">
                <a:cs typeface="B Nazanin" panose="00000400000000000000" pitchFamily="2" charset="-78"/>
              </a:rPr>
              <a:t>: مکانیزمی حفاظتی برای کنترل و نظارت دسترسی کاربران مجاز به استفاده از سیستم اطلاعاتی </a:t>
            </a:r>
          </a:p>
          <a:p>
            <a:endParaRPr lang="fa-IR" sz="2400" dirty="0">
              <a:cs typeface="B Nazanin" panose="00000400000000000000" pitchFamily="2" charset="-78"/>
            </a:endParaRPr>
          </a:p>
          <a:p>
            <a:r>
              <a:rPr lang="fa-IR" sz="2400" dirty="0" smtClean="0">
                <a:cs typeface="B Nazanin" panose="00000400000000000000" pitchFamily="2" charset="-78"/>
              </a:rPr>
              <a:t> خصوصی‌سازی </a:t>
            </a:r>
            <a:r>
              <a:rPr lang="en-US" sz="2400" dirty="0" smtClean="0">
                <a:cs typeface="B Nazanin" panose="00000400000000000000" pitchFamily="2" charset="-78"/>
              </a:rPr>
              <a:t>(privacy information)</a:t>
            </a:r>
            <a:r>
              <a:rPr lang="fa-IR" sz="2400" dirty="0" smtClean="0">
                <a:cs typeface="B Nazanin" panose="00000400000000000000" pitchFamily="2" charset="-78"/>
              </a:rPr>
              <a:t>: قابل دسترس بودن اطلاعات یک شخص یا یک سازمان برای سایرین با سطوح اطلاعاتی متفاوت.- خصوصی سازی بیماری بیماران برای استفاده فقط پژوهشگران ( نه تاریخ تولد بیمار و اطلاعات جامعشان)</a:t>
            </a:r>
            <a:endParaRPr lang="fa-IR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437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778697"/>
            <a:ext cx="9130544" cy="2748752"/>
          </a:xfrm>
        </p:spPr>
        <p:txBody>
          <a:bodyPr>
            <a:normAutofit/>
          </a:bodyPr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تمرین :</a:t>
            </a:r>
            <a:br>
              <a:rPr lang="fa-IR" dirty="0" smtClean="0">
                <a:cs typeface="B Nazanin" panose="00000400000000000000" pitchFamily="2" charset="-78"/>
              </a:rPr>
            </a:br>
            <a:r>
              <a:rPr lang="fa-IR" dirty="0" smtClean="0">
                <a:cs typeface="B Nazanin" panose="00000400000000000000" pitchFamily="2" charset="-78"/>
              </a:rPr>
              <a:t> </a:t>
            </a:r>
            <a:br>
              <a:rPr lang="fa-IR" dirty="0" smtClean="0">
                <a:cs typeface="B Nazanin" panose="00000400000000000000" pitchFamily="2" charset="-78"/>
              </a:rPr>
            </a:br>
            <a:r>
              <a:rPr lang="fa-IR" dirty="0" smtClean="0">
                <a:cs typeface="B Nazanin" panose="00000400000000000000" pitchFamily="2" charset="-78"/>
              </a:rPr>
              <a:t>فلوچارت مراحل اجرا و خروجی یک تراکنش را رسم کنید.</a:t>
            </a: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7263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128" y="221293"/>
            <a:ext cx="8596668" cy="1320800"/>
          </a:xfrm>
        </p:spPr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فصل دوم: روش‌های پیاده‌سازی سیستم اطلاعاتی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414" y="1052186"/>
            <a:ext cx="5599134" cy="6068860"/>
          </a:xfrm>
        </p:spPr>
        <p:txBody>
          <a:bodyPr>
            <a:normAutofit/>
          </a:bodyPr>
          <a:lstStyle/>
          <a:p>
            <a:r>
              <a:rPr lang="fa-IR" sz="2000" dirty="0" smtClean="0">
                <a:cs typeface="B Nazanin" panose="00000400000000000000" pitchFamily="2" charset="-78"/>
              </a:rPr>
              <a:t>روش اول : سیستم‌های فایلینگ</a:t>
            </a:r>
          </a:p>
          <a:p>
            <a:r>
              <a:rPr lang="fa-IR" sz="2000" dirty="0" smtClean="0">
                <a:cs typeface="B Nazanin" panose="00000400000000000000" pitchFamily="2" charset="-78"/>
              </a:rPr>
              <a:t>روش دوم: روش مبتنی بر پایگاه داده‌ها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تعریف پایگاه داده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عناصر اصلی سیستم مدیریت پایگاه داده‌ها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افزونگی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مزایای استفاده از سیستم‌ای مبتنی بر پایگاه داده</a:t>
            </a:r>
          </a:p>
          <a:p>
            <a:pPr marL="0" indent="0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75583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>
                <a:cs typeface="B Nazanin" panose="00000400000000000000" pitchFamily="2" charset="-78"/>
              </a:rPr>
              <a:t>روش اول : سیستم‌های فایلینگ</a:t>
            </a:r>
            <a:br>
              <a:rPr lang="fa-IR" dirty="0">
                <a:cs typeface="B Nazanin" panose="00000400000000000000" pitchFamily="2" charset="-78"/>
              </a:rPr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a-IR" sz="2800" dirty="0" smtClean="0">
                <a:cs typeface="B Nazanin" panose="00000400000000000000" pitchFamily="2" charset="-78"/>
              </a:rPr>
              <a:t> سیستم ناپایگاهی: در این روش نیازهای اطلاعاتی و پردازشی هر قسمت از محیط برآورده می شوند. مراحل اولیه طراحی  و تولید برای هر قسمت به طور کلاسیک انجام شده و بعد از طراحی، مشخصات هر سیستم همراه با وظایف آنها مشخص می شود .</a:t>
            </a:r>
          </a:p>
          <a:p>
            <a:r>
              <a:rPr lang="fa-IR" sz="2800" dirty="0" smtClean="0">
                <a:cs typeface="B Nazanin" panose="00000400000000000000" pitchFamily="2" charset="-78"/>
              </a:rPr>
              <a:t>در این روش برای ایجاد محیط ذخیره سازی اطلاعات از یک سیستم فایل </a:t>
            </a:r>
            <a:r>
              <a:rPr lang="en-US" sz="2800" dirty="0" smtClean="0">
                <a:cs typeface="B Nazanin" panose="00000400000000000000" pitchFamily="2" charset="-78"/>
              </a:rPr>
              <a:t>(FS)</a:t>
            </a:r>
            <a:r>
              <a:rPr lang="fa-IR" sz="2800" dirty="0" smtClean="0">
                <a:cs typeface="B Nazanin" panose="00000400000000000000" pitchFamily="2" charset="-78"/>
              </a:rPr>
              <a:t> و برای برنامه سازی از یک زبان سطح بالا استفاده می شود و در نهایت برای هر قسمت، یک سیستم کاربردی ایجاد می شود.</a:t>
            </a:r>
            <a:endParaRPr lang="fa-IR" sz="28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72868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eparation 3"/>
          <p:cNvSpPr/>
          <p:nvPr/>
        </p:nvSpPr>
        <p:spPr>
          <a:xfrm>
            <a:off x="1367243" y="669918"/>
            <a:ext cx="1265129" cy="85176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UI 1</a:t>
            </a:r>
            <a:endParaRPr lang="fa-IR" dirty="0"/>
          </a:p>
        </p:txBody>
      </p:sp>
      <p:sp>
        <p:nvSpPr>
          <p:cNvPr id="11" name="Flowchart: Preparation 10"/>
          <p:cNvSpPr/>
          <p:nvPr/>
        </p:nvSpPr>
        <p:spPr>
          <a:xfrm>
            <a:off x="1350358" y="2338928"/>
            <a:ext cx="1265129" cy="85176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UI 2</a:t>
            </a:r>
            <a:endParaRPr lang="fa-IR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243" y="5385540"/>
            <a:ext cx="1286367" cy="871804"/>
          </a:xfrm>
          <a:prstGeom prst="rect">
            <a:avLst/>
          </a:prstGeom>
        </p:spPr>
      </p:pic>
      <p:sp>
        <p:nvSpPr>
          <p:cNvPr id="13" name="Flowchart: Preparation 12"/>
          <p:cNvSpPr/>
          <p:nvPr/>
        </p:nvSpPr>
        <p:spPr>
          <a:xfrm>
            <a:off x="1350358" y="3751058"/>
            <a:ext cx="1265129" cy="85176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UI 3</a:t>
            </a:r>
            <a:endParaRPr lang="fa-IR" dirty="0"/>
          </a:p>
        </p:txBody>
      </p:sp>
      <p:sp>
        <p:nvSpPr>
          <p:cNvPr id="15" name="Oval 14"/>
          <p:cNvSpPr/>
          <p:nvPr/>
        </p:nvSpPr>
        <p:spPr>
          <a:xfrm>
            <a:off x="4904981" y="231641"/>
            <a:ext cx="1102290" cy="146554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OS 1</a:t>
            </a:r>
          </a:p>
          <a:p>
            <a:pPr algn="ctr"/>
            <a:endParaRPr lang="en-US" dirty="0" smtClean="0"/>
          </a:p>
          <a:p>
            <a:pPr algn="ctr"/>
            <a:endParaRPr lang="fa-IR" dirty="0"/>
          </a:p>
        </p:txBody>
      </p:sp>
      <p:sp>
        <p:nvSpPr>
          <p:cNvPr id="16" name="Rectangle 15"/>
          <p:cNvSpPr/>
          <p:nvPr/>
        </p:nvSpPr>
        <p:spPr>
          <a:xfrm>
            <a:off x="5221262" y="1089763"/>
            <a:ext cx="469727" cy="5386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FS1</a:t>
            </a:r>
            <a:endParaRPr lang="fa-IR" dirty="0"/>
          </a:p>
        </p:txBody>
      </p:sp>
      <p:sp>
        <p:nvSpPr>
          <p:cNvPr id="18" name="Oval 17"/>
          <p:cNvSpPr/>
          <p:nvPr/>
        </p:nvSpPr>
        <p:spPr>
          <a:xfrm>
            <a:off x="4904981" y="1912411"/>
            <a:ext cx="1102290" cy="1436318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OS 2</a:t>
            </a:r>
          </a:p>
          <a:p>
            <a:pPr algn="ctr"/>
            <a:endParaRPr lang="en-US" dirty="0" smtClean="0"/>
          </a:p>
          <a:p>
            <a:pPr algn="ctr"/>
            <a:endParaRPr lang="fa-IR" dirty="0"/>
          </a:p>
        </p:txBody>
      </p:sp>
      <p:sp>
        <p:nvSpPr>
          <p:cNvPr id="19" name="Oval 18"/>
          <p:cNvSpPr/>
          <p:nvPr/>
        </p:nvSpPr>
        <p:spPr>
          <a:xfrm>
            <a:off x="4904981" y="3569730"/>
            <a:ext cx="1102290" cy="146554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OS 3</a:t>
            </a:r>
          </a:p>
          <a:p>
            <a:pPr algn="ctr"/>
            <a:endParaRPr lang="en-US" dirty="0" smtClean="0"/>
          </a:p>
          <a:p>
            <a:pPr algn="ctr"/>
            <a:endParaRPr lang="fa-IR" dirty="0"/>
          </a:p>
        </p:txBody>
      </p:sp>
      <p:sp>
        <p:nvSpPr>
          <p:cNvPr id="20" name="Oval 19"/>
          <p:cNvSpPr/>
          <p:nvPr/>
        </p:nvSpPr>
        <p:spPr>
          <a:xfrm>
            <a:off x="4904981" y="5192887"/>
            <a:ext cx="1102290" cy="146554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OS </a:t>
            </a:r>
            <a:r>
              <a:rPr lang="en-US" dirty="0" err="1" smtClean="0"/>
              <a:t>i</a:t>
            </a:r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fa-IR" dirty="0"/>
          </a:p>
        </p:txBody>
      </p:sp>
      <p:sp>
        <p:nvSpPr>
          <p:cNvPr id="21" name="Rectangle 20"/>
          <p:cNvSpPr/>
          <p:nvPr/>
        </p:nvSpPr>
        <p:spPr>
          <a:xfrm>
            <a:off x="5219171" y="5925659"/>
            <a:ext cx="469727" cy="5386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FS </a:t>
            </a:r>
            <a:r>
              <a:rPr lang="en-US" dirty="0" err="1" smtClean="0"/>
              <a:t>i</a:t>
            </a:r>
            <a:endParaRPr lang="fa-IR" dirty="0"/>
          </a:p>
        </p:txBody>
      </p:sp>
      <p:sp>
        <p:nvSpPr>
          <p:cNvPr id="22" name="Rectangle 21"/>
          <p:cNvSpPr/>
          <p:nvPr/>
        </p:nvSpPr>
        <p:spPr>
          <a:xfrm>
            <a:off x="5219172" y="4333517"/>
            <a:ext cx="469727" cy="5386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FS 3</a:t>
            </a:r>
            <a:endParaRPr lang="fa-IR" dirty="0"/>
          </a:p>
        </p:txBody>
      </p:sp>
      <p:sp>
        <p:nvSpPr>
          <p:cNvPr id="23" name="Rectangle 22"/>
          <p:cNvSpPr/>
          <p:nvPr/>
        </p:nvSpPr>
        <p:spPr>
          <a:xfrm>
            <a:off x="5221262" y="2630570"/>
            <a:ext cx="469727" cy="5386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FS2</a:t>
            </a:r>
            <a:endParaRPr lang="fa-IR" dirty="0"/>
          </a:p>
        </p:txBody>
      </p:sp>
      <p:sp>
        <p:nvSpPr>
          <p:cNvPr id="24" name="Can 23"/>
          <p:cNvSpPr/>
          <p:nvPr/>
        </p:nvSpPr>
        <p:spPr>
          <a:xfrm>
            <a:off x="8027277" y="84768"/>
            <a:ext cx="926926" cy="1612418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file</a:t>
            </a:r>
            <a:endParaRPr lang="fa-IR" dirty="0"/>
          </a:p>
        </p:txBody>
      </p:sp>
      <p:sp>
        <p:nvSpPr>
          <p:cNvPr id="26" name="Can 25"/>
          <p:cNvSpPr/>
          <p:nvPr/>
        </p:nvSpPr>
        <p:spPr>
          <a:xfrm>
            <a:off x="8027277" y="1796689"/>
            <a:ext cx="926926" cy="1612418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file</a:t>
            </a:r>
            <a:endParaRPr lang="fa-IR" dirty="0"/>
          </a:p>
        </p:txBody>
      </p:sp>
      <p:sp>
        <p:nvSpPr>
          <p:cNvPr id="27" name="Can 26"/>
          <p:cNvSpPr/>
          <p:nvPr/>
        </p:nvSpPr>
        <p:spPr>
          <a:xfrm>
            <a:off x="8044162" y="3527308"/>
            <a:ext cx="926926" cy="1612418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file</a:t>
            </a:r>
            <a:endParaRPr lang="fa-IR" dirty="0"/>
          </a:p>
        </p:txBody>
      </p:sp>
      <p:sp>
        <p:nvSpPr>
          <p:cNvPr id="28" name="Can 27"/>
          <p:cNvSpPr/>
          <p:nvPr/>
        </p:nvSpPr>
        <p:spPr>
          <a:xfrm>
            <a:off x="8033358" y="5170427"/>
            <a:ext cx="926926" cy="1612418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file</a:t>
            </a:r>
            <a:endParaRPr lang="fa-IR" dirty="0"/>
          </a:p>
        </p:txBody>
      </p:sp>
      <p:sp>
        <p:nvSpPr>
          <p:cNvPr id="29" name="Left-Right Arrow 28"/>
          <p:cNvSpPr/>
          <p:nvPr/>
        </p:nvSpPr>
        <p:spPr>
          <a:xfrm>
            <a:off x="3054693" y="1045921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0" name="Left-Right Arrow 29"/>
          <p:cNvSpPr/>
          <p:nvPr/>
        </p:nvSpPr>
        <p:spPr>
          <a:xfrm>
            <a:off x="3065741" y="5737769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1" name="Left-Right Arrow 30"/>
          <p:cNvSpPr/>
          <p:nvPr/>
        </p:nvSpPr>
        <p:spPr>
          <a:xfrm>
            <a:off x="3046250" y="4062819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2" name="Left-Right Arrow 31"/>
          <p:cNvSpPr/>
          <p:nvPr/>
        </p:nvSpPr>
        <p:spPr>
          <a:xfrm>
            <a:off x="3030588" y="2554474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3" name="Left-Right Arrow 32"/>
          <p:cNvSpPr/>
          <p:nvPr/>
        </p:nvSpPr>
        <p:spPr>
          <a:xfrm>
            <a:off x="6326711" y="5737769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4" name="Left-Right Arrow 33"/>
          <p:cNvSpPr/>
          <p:nvPr/>
        </p:nvSpPr>
        <p:spPr>
          <a:xfrm>
            <a:off x="6297823" y="4114612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5" name="Left-Right Arrow 34"/>
          <p:cNvSpPr/>
          <p:nvPr/>
        </p:nvSpPr>
        <p:spPr>
          <a:xfrm>
            <a:off x="6193684" y="2586834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36" name="Left-Right Arrow 35"/>
          <p:cNvSpPr/>
          <p:nvPr/>
        </p:nvSpPr>
        <p:spPr>
          <a:xfrm>
            <a:off x="6193685" y="983293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1240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542" y="246346"/>
            <a:ext cx="8596668" cy="1320800"/>
          </a:xfrm>
        </p:spPr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معایب روش فایلینگ: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19" y="1119687"/>
            <a:ext cx="8735383" cy="47550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1- ناسازگاری داده‌ها: 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عدم همخوانی نوع و یا اندازه تعریف شده برای داده‌هایی که در چندین زیرسیستم مربوط به یک سیستم.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مثال : شماره پرسنلی در یک سیستم درمانی : کاراکتری </a:t>
            </a:r>
          </a:p>
          <a:p>
            <a:pPr marL="0" indent="0">
              <a:buNone/>
            </a:pP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       اما در سیستم دیگری مانند حسابداری : عدد صحیح 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2- عدم داشتن کنترل متمرکز: 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هنگامی که اطلاعات بر روی ماشین های مجزا ذخیرهمی شود ، کنترل متمرکز آنها دشوار است.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مثال: سیستم </a:t>
            </a:r>
            <a:r>
              <a:rPr lang="en-US" sz="2400" dirty="0" smtClean="0">
                <a:cs typeface="B Nazanin" panose="00000400000000000000" pitchFamily="2" charset="-78"/>
              </a:rPr>
              <a:t>DOS </a:t>
            </a:r>
            <a:r>
              <a:rPr lang="fa-IR" sz="2400" dirty="0" smtClean="0">
                <a:cs typeface="B Nazanin" panose="00000400000000000000" pitchFamily="2" charset="-78"/>
              </a:rPr>
              <a:t>، 16 بیتی است در حالی سیستمی مانند ویندوز 8 ، 64 بیتی . در این زمان عملیت درج و حذف و ویرایش اطلاعات مشکل خواهد بود.</a:t>
            </a:r>
          </a:p>
        </p:txBody>
      </p:sp>
    </p:spTree>
    <p:extLst>
      <p:ext uri="{BB962C8B-B14F-4D97-AF65-F5344CB8AC3E}">
        <p14:creationId xmlns:p14="http://schemas.microsoft.com/office/powerpoint/2010/main" val="296827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eparation 3"/>
          <p:cNvSpPr/>
          <p:nvPr/>
        </p:nvSpPr>
        <p:spPr>
          <a:xfrm>
            <a:off x="1367243" y="669918"/>
            <a:ext cx="1265129" cy="85176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UI 1</a:t>
            </a:r>
            <a:endParaRPr lang="fa-IR" dirty="0"/>
          </a:p>
        </p:txBody>
      </p:sp>
      <p:sp>
        <p:nvSpPr>
          <p:cNvPr id="5" name="Flowchart: Preparation 4"/>
          <p:cNvSpPr/>
          <p:nvPr/>
        </p:nvSpPr>
        <p:spPr>
          <a:xfrm>
            <a:off x="1350358" y="2210488"/>
            <a:ext cx="1265129" cy="85176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UI 2</a:t>
            </a:r>
            <a:endParaRPr lang="fa-I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243" y="5385540"/>
            <a:ext cx="1286367" cy="871804"/>
          </a:xfrm>
          <a:prstGeom prst="rect">
            <a:avLst/>
          </a:prstGeom>
        </p:spPr>
      </p:pic>
      <p:sp>
        <p:nvSpPr>
          <p:cNvPr id="7" name="Flowchart: Preparation 6"/>
          <p:cNvSpPr/>
          <p:nvPr/>
        </p:nvSpPr>
        <p:spPr>
          <a:xfrm>
            <a:off x="1350358" y="3751058"/>
            <a:ext cx="1265129" cy="85176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UI 3</a:t>
            </a:r>
            <a:endParaRPr lang="fa-IR" dirty="0"/>
          </a:p>
        </p:txBody>
      </p:sp>
      <p:sp>
        <p:nvSpPr>
          <p:cNvPr id="8" name="Oval 7"/>
          <p:cNvSpPr/>
          <p:nvPr/>
        </p:nvSpPr>
        <p:spPr>
          <a:xfrm>
            <a:off x="4904981" y="231641"/>
            <a:ext cx="1102290" cy="146554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DOS</a:t>
            </a:r>
          </a:p>
          <a:p>
            <a:pPr algn="ctr"/>
            <a:endParaRPr lang="en-US" dirty="0" smtClean="0"/>
          </a:p>
          <a:p>
            <a:pPr algn="ctr"/>
            <a:endParaRPr lang="fa-IR" dirty="0"/>
          </a:p>
        </p:txBody>
      </p:sp>
      <p:sp>
        <p:nvSpPr>
          <p:cNvPr id="9" name="Rectangle 8"/>
          <p:cNvSpPr/>
          <p:nvPr/>
        </p:nvSpPr>
        <p:spPr>
          <a:xfrm>
            <a:off x="5221262" y="1089763"/>
            <a:ext cx="469727" cy="5386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FS1</a:t>
            </a:r>
            <a:endParaRPr lang="fa-IR" dirty="0"/>
          </a:p>
        </p:txBody>
      </p:sp>
      <p:sp>
        <p:nvSpPr>
          <p:cNvPr id="10" name="Oval 9"/>
          <p:cNvSpPr/>
          <p:nvPr/>
        </p:nvSpPr>
        <p:spPr>
          <a:xfrm>
            <a:off x="4535894" y="1894571"/>
            <a:ext cx="1570975" cy="131980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Windows </a:t>
            </a:r>
            <a:r>
              <a:rPr lang="en-US" dirty="0" err="1" smtClean="0"/>
              <a:t>xp</a:t>
            </a:r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fa-IR" dirty="0"/>
          </a:p>
        </p:txBody>
      </p:sp>
      <p:sp>
        <p:nvSpPr>
          <p:cNvPr id="11" name="Oval 10"/>
          <p:cNvSpPr/>
          <p:nvPr/>
        </p:nvSpPr>
        <p:spPr>
          <a:xfrm>
            <a:off x="4792589" y="3533189"/>
            <a:ext cx="1102290" cy="146554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Linux</a:t>
            </a:r>
          </a:p>
          <a:p>
            <a:pPr algn="ctr"/>
            <a:endParaRPr lang="en-US" dirty="0" smtClean="0"/>
          </a:p>
          <a:p>
            <a:pPr algn="ctr"/>
            <a:endParaRPr lang="fa-IR" dirty="0"/>
          </a:p>
        </p:txBody>
      </p:sp>
      <p:sp>
        <p:nvSpPr>
          <p:cNvPr id="12" name="Oval 11"/>
          <p:cNvSpPr/>
          <p:nvPr/>
        </p:nvSpPr>
        <p:spPr>
          <a:xfrm>
            <a:off x="4770235" y="5170427"/>
            <a:ext cx="1102290" cy="146554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Mac </a:t>
            </a:r>
            <a:r>
              <a:rPr lang="en-US" dirty="0" err="1" smtClean="0"/>
              <a:t>os</a:t>
            </a:r>
            <a:endParaRPr lang="en-US" dirty="0" smtClean="0"/>
          </a:p>
          <a:p>
            <a:pPr algn="ctr"/>
            <a:endParaRPr lang="en-US" dirty="0" smtClean="0"/>
          </a:p>
          <a:p>
            <a:pPr algn="ctr"/>
            <a:endParaRPr lang="fa-IR" dirty="0"/>
          </a:p>
        </p:txBody>
      </p:sp>
      <p:sp>
        <p:nvSpPr>
          <p:cNvPr id="13" name="Rectangle 12"/>
          <p:cNvSpPr/>
          <p:nvPr/>
        </p:nvSpPr>
        <p:spPr>
          <a:xfrm>
            <a:off x="5219171" y="5925659"/>
            <a:ext cx="469727" cy="5386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FS </a:t>
            </a:r>
            <a:r>
              <a:rPr lang="en-US" dirty="0" err="1" smtClean="0"/>
              <a:t>i</a:t>
            </a:r>
            <a:endParaRPr lang="fa-IR" dirty="0"/>
          </a:p>
        </p:txBody>
      </p:sp>
      <p:sp>
        <p:nvSpPr>
          <p:cNvPr id="14" name="Rectangle 13"/>
          <p:cNvSpPr/>
          <p:nvPr/>
        </p:nvSpPr>
        <p:spPr>
          <a:xfrm>
            <a:off x="5219172" y="4333517"/>
            <a:ext cx="469727" cy="5386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FS 3</a:t>
            </a:r>
            <a:endParaRPr lang="fa-IR" dirty="0"/>
          </a:p>
        </p:txBody>
      </p:sp>
      <p:sp>
        <p:nvSpPr>
          <p:cNvPr id="15" name="Rectangle 14"/>
          <p:cNvSpPr/>
          <p:nvPr/>
        </p:nvSpPr>
        <p:spPr>
          <a:xfrm>
            <a:off x="5086517" y="2649217"/>
            <a:ext cx="469727" cy="5386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FS2</a:t>
            </a:r>
            <a:endParaRPr lang="fa-IR" dirty="0"/>
          </a:p>
        </p:txBody>
      </p:sp>
      <p:sp>
        <p:nvSpPr>
          <p:cNvPr id="16" name="Can 15"/>
          <p:cNvSpPr/>
          <p:nvPr/>
        </p:nvSpPr>
        <p:spPr>
          <a:xfrm>
            <a:off x="8027277" y="84768"/>
            <a:ext cx="926926" cy="1612418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file</a:t>
            </a:r>
            <a:endParaRPr lang="fa-IR" dirty="0"/>
          </a:p>
        </p:txBody>
      </p:sp>
      <p:sp>
        <p:nvSpPr>
          <p:cNvPr id="17" name="Can 16"/>
          <p:cNvSpPr/>
          <p:nvPr/>
        </p:nvSpPr>
        <p:spPr>
          <a:xfrm>
            <a:off x="8027277" y="1796689"/>
            <a:ext cx="926926" cy="1612418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file</a:t>
            </a:r>
            <a:endParaRPr lang="fa-IR" dirty="0"/>
          </a:p>
        </p:txBody>
      </p:sp>
      <p:sp>
        <p:nvSpPr>
          <p:cNvPr id="18" name="Can 17"/>
          <p:cNvSpPr/>
          <p:nvPr/>
        </p:nvSpPr>
        <p:spPr>
          <a:xfrm>
            <a:off x="8044162" y="3527308"/>
            <a:ext cx="926926" cy="1612418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file</a:t>
            </a:r>
            <a:endParaRPr lang="fa-IR" dirty="0"/>
          </a:p>
        </p:txBody>
      </p:sp>
      <p:sp>
        <p:nvSpPr>
          <p:cNvPr id="19" name="Can 18"/>
          <p:cNvSpPr/>
          <p:nvPr/>
        </p:nvSpPr>
        <p:spPr>
          <a:xfrm>
            <a:off x="8033358" y="5170427"/>
            <a:ext cx="926926" cy="1612418"/>
          </a:xfrm>
          <a:prstGeom prst="ca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file</a:t>
            </a:r>
            <a:endParaRPr lang="fa-IR" dirty="0"/>
          </a:p>
        </p:txBody>
      </p:sp>
      <p:sp>
        <p:nvSpPr>
          <p:cNvPr id="20" name="Left-Right Arrow 19"/>
          <p:cNvSpPr/>
          <p:nvPr/>
        </p:nvSpPr>
        <p:spPr>
          <a:xfrm>
            <a:off x="3054693" y="1045921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1" name="Left-Right Arrow 20"/>
          <p:cNvSpPr/>
          <p:nvPr/>
        </p:nvSpPr>
        <p:spPr>
          <a:xfrm>
            <a:off x="3065741" y="5737769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2" name="Left-Right Arrow 21"/>
          <p:cNvSpPr/>
          <p:nvPr/>
        </p:nvSpPr>
        <p:spPr>
          <a:xfrm>
            <a:off x="3046250" y="4062819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3" name="Left-Right Arrow 22"/>
          <p:cNvSpPr/>
          <p:nvPr/>
        </p:nvSpPr>
        <p:spPr>
          <a:xfrm>
            <a:off x="3030588" y="2554474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4" name="Left-Right Arrow 23"/>
          <p:cNvSpPr/>
          <p:nvPr/>
        </p:nvSpPr>
        <p:spPr>
          <a:xfrm>
            <a:off x="6326711" y="5737769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5" name="Left-Right Arrow 24"/>
          <p:cNvSpPr/>
          <p:nvPr/>
        </p:nvSpPr>
        <p:spPr>
          <a:xfrm>
            <a:off x="6297823" y="4114612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6" name="Left-Right Arrow 25"/>
          <p:cNvSpPr/>
          <p:nvPr/>
        </p:nvSpPr>
        <p:spPr>
          <a:xfrm>
            <a:off x="6193684" y="2586834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27" name="Left-Right Arrow 26"/>
          <p:cNvSpPr/>
          <p:nvPr/>
        </p:nvSpPr>
        <p:spPr>
          <a:xfrm>
            <a:off x="6193685" y="983293"/>
            <a:ext cx="1427967" cy="37578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04939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601249"/>
            <a:ext cx="8992759" cy="5440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3- مشکل بروز نبودن اطلاعات:</a:t>
            </a: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هنگامی که تغییری در یکی از سیستم های زیرمجموعه ایجاد می شود، امکان یکسان بودن این اطلاعات مشترک در یک بازه زمانی کوتاه به سختی امکان پذیر است.</a:t>
            </a:r>
          </a:p>
          <a:p>
            <a:pPr marL="0" indent="0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مثال : استعلام موجودی کالا در دو زمان متفاوت</a:t>
            </a:r>
            <a:endParaRPr lang="en-US" sz="2400" dirty="0" smtClean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en-US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4- پایین بودن ضریب ایمنی: به جهت محدود بودن مکانیستم‌های ایمنی، ضریب ایمنی آن پایین است . حتی استفاده از انواع اقسام ایمنی ها ، باز هم به علت سیستم فایلینگ مبتنی بر معماری کنترل نامتمرکز، مکانیسم حفاظتی نمی‌تواند به قدر کافی تامین کننده ضریب ایمنی بالا برای سیستم اطلاعاتی باشند.</a:t>
            </a:r>
          </a:p>
          <a:p>
            <a:pPr marL="0" indent="0">
              <a:buNone/>
            </a:pPr>
            <a:endParaRPr lang="fa-IR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09471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876823"/>
            <a:ext cx="9168124" cy="51645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5 - پایین بودن ضریب امنیتی : امنیت اطلاعات در سیستم فایلینگ بیشتر وابسته به نوع سیستم عامل مربوط به هر یک از زیرسیستم هاست.  باز به علت نبودن سیستم کنترل متمرکز برای تعیین و مدیریت حقوق کاربری کاربران ، مدیریت امنیت اطلاعات ذخیره شده در سیستم فایلینگ کاراآمد نیست.</a:t>
            </a:r>
          </a:p>
          <a:p>
            <a:pPr marL="0" indent="0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6- استفاده ناکارآمد از منابع: سیستم‌های فایلینگ فاقد یک مکانیسم کنترل متمرکز برای مدیریت زیرسیستم‌ها هستند.</a:t>
            </a:r>
          </a:p>
          <a:p>
            <a:pPr marL="0" indent="0">
              <a:buNone/>
            </a:pPr>
            <a:endParaRPr lang="fa-IR" sz="2400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2400" dirty="0" smtClean="0">
                <a:cs typeface="B Nazanin" panose="00000400000000000000" pitchFamily="2" charset="-78"/>
              </a:rPr>
              <a:t>7- سختی در توسعه سیستم و بهینه‌سازی سیستم : عدم همسانی در نرم افزارهای استفاده شده، کار را برای توسعه و بهینه‌سازی سیستم کلی چه از نظر نیروی کار و چه از نظر توسعه و بهینه‌سازی مشکل می‌سازد.</a:t>
            </a:r>
            <a:endParaRPr lang="fa-IR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6083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مهمترین مزیت سیستم فایلینگ: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639" y="1930400"/>
            <a:ext cx="6593432" cy="10961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a-IR" sz="3600" dirty="0" smtClean="0">
                <a:cs typeface="B Nazanin" panose="00000400000000000000" pitchFamily="2" charset="-78"/>
              </a:rPr>
              <a:t>ساده بودن طراحی و سادگی در پیاده‌سازی</a:t>
            </a:r>
            <a:endParaRPr lang="fa-IR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0710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فصل سوم : مدل‌سازی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93095" y="1684600"/>
            <a:ext cx="5441038" cy="3880773"/>
          </a:xfrm>
        </p:spPr>
        <p:txBody>
          <a:bodyPr>
            <a:normAutofit/>
          </a:bodyPr>
          <a:lstStyle/>
          <a:p>
            <a:r>
              <a:rPr lang="fa-IR" sz="2400" dirty="0" smtClean="0">
                <a:cs typeface="B Nazanin" panose="00000400000000000000" pitchFamily="2" charset="-78"/>
              </a:rPr>
              <a:t> شناخت نیازها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مستندسازی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مدل‌سازی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مدل‌سازی فرآیندی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مدل‌سازی داده ای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مدل‌سازی ترکیبی</a:t>
            </a:r>
            <a:endParaRPr lang="fa-IR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2844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فصل چهارم: طراحی منطقی پایگاه داده‌ها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2272" y="1596918"/>
            <a:ext cx="7006791" cy="3880773"/>
          </a:xfrm>
        </p:spPr>
        <p:txBody>
          <a:bodyPr>
            <a:noAutofit/>
          </a:bodyPr>
          <a:lstStyle/>
          <a:p>
            <a:r>
              <a:rPr lang="fa-IR" sz="2400" dirty="0" smtClean="0">
                <a:cs typeface="B Nazanin" panose="00000400000000000000" pitchFamily="2" charset="-78"/>
              </a:rPr>
              <a:t> مدل داده‌ای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اجزای تشکیل دهنده یک مدل داده‌ای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بخش ساختار داده‌ای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بخش عملیاتی یا پردازشی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بخش جامعیتی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 حالت‌های کلاسیک از مدل های داده‌ای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مدل سلسله مراتبی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مدل داده ای شبکه‌ای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مدل داده‌ای رابطه‌ای ( جدولی)</a:t>
            </a:r>
          </a:p>
        </p:txBody>
      </p:sp>
    </p:spTree>
    <p:extLst>
      <p:ext uri="{BB962C8B-B14F-4D97-AF65-F5344CB8AC3E}">
        <p14:creationId xmlns:p14="http://schemas.microsoft.com/office/powerpoint/2010/main" val="1509725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438" y="208767"/>
            <a:ext cx="8596668" cy="1320800"/>
          </a:xfrm>
        </p:spPr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فصل پنجم: معماری پایگاه داده‌ها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1978" y="983141"/>
            <a:ext cx="7261668" cy="5605549"/>
          </a:xfrm>
        </p:spPr>
        <p:txBody>
          <a:bodyPr>
            <a:normAutofit/>
          </a:bodyPr>
          <a:lstStyle/>
          <a:p>
            <a:r>
              <a:rPr lang="fa-IR" dirty="0" smtClean="0"/>
              <a:t> </a:t>
            </a:r>
            <a:r>
              <a:rPr lang="fa-IR" sz="2000" dirty="0" smtClean="0">
                <a:cs typeface="B Nazanin" panose="00000400000000000000" pitchFamily="2" charset="-78"/>
              </a:rPr>
              <a:t>معماری سه لایه برای پایگاه داده‌ها</a:t>
            </a:r>
          </a:p>
          <a:p>
            <a:r>
              <a:rPr lang="fa-IR" sz="2000" dirty="0" smtClean="0">
                <a:cs typeface="B Nazanin" panose="00000400000000000000" pitchFamily="2" charset="-78"/>
              </a:rPr>
              <a:t>نگاشت</a:t>
            </a:r>
          </a:p>
          <a:p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fa-IR" sz="2000" dirty="0" smtClean="0">
                <a:cs typeface="B Nazanin" panose="00000400000000000000" pitchFamily="2" charset="-78"/>
              </a:rPr>
              <a:t>استقلال داده‌ها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استقلال فیزیکی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استقلال منطقی</a:t>
            </a:r>
          </a:p>
          <a:p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fa-IR" sz="2000" dirty="0" smtClean="0">
                <a:cs typeface="B Nazanin" panose="00000400000000000000" pitchFamily="2" charset="-78"/>
              </a:rPr>
              <a:t>زبان میزبان</a:t>
            </a:r>
            <a:r>
              <a:rPr lang="en-US" sz="2000" dirty="0" smtClean="0">
                <a:cs typeface="B Nazanin" panose="00000400000000000000" pitchFamily="2" charset="-78"/>
              </a:rPr>
              <a:t>(HL) </a:t>
            </a:r>
            <a:endParaRPr lang="fa-IR" sz="2000" dirty="0" smtClean="0">
              <a:cs typeface="B Nazanin" panose="00000400000000000000" pitchFamily="2" charset="-78"/>
            </a:endParaRPr>
          </a:p>
          <a:p>
            <a:r>
              <a:rPr lang="fa-IR" sz="2000" dirty="0">
                <a:cs typeface="B Nazanin" panose="00000400000000000000" pitchFamily="2" charset="-78"/>
              </a:rPr>
              <a:t> </a:t>
            </a:r>
            <a:r>
              <a:rPr lang="fa-IR" sz="2000" dirty="0" smtClean="0">
                <a:cs typeface="B Nazanin" panose="00000400000000000000" pitchFamily="2" charset="-78"/>
              </a:rPr>
              <a:t>زبان فرعی داده‌ها</a:t>
            </a:r>
            <a:r>
              <a:rPr lang="en-US" sz="2000" dirty="0" smtClean="0">
                <a:cs typeface="B Nazanin" panose="00000400000000000000" pitchFamily="2" charset="-78"/>
              </a:rPr>
              <a:t>(DSL) </a:t>
            </a:r>
            <a:endParaRPr lang="fa-IR" sz="2000" dirty="0" smtClean="0"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زبانی تعریف داده‌ها </a:t>
            </a:r>
            <a:r>
              <a:rPr lang="en-US" sz="2000" dirty="0" smtClean="0">
                <a:cs typeface="B Nazanin" panose="00000400000000000000" pitchFamily="2" charset="-78"/>
              </a:rPr>
              <a:t>(DDL)</a:t>
            </a:r>
            <a:endParaRPr lang="fa-IR" sz="2000" dirty="0" smtClean="0"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زبانی برای کار با داده‌ها </a:t>
            </a:r>
            <a:r>
              <a:rPr lang="en-US" sz="2000" dirty="0" smtClean="0">
                <a:cs typeface="B Nazanin" panose="00000400000000000000" pitchFamily="2" charset="-78"/>
              </a:rPr>
              <a:t>(DML) </a:t>
            </a:r>
            <a:endParaRPr lang="fa-IR" sz="2000" dirty="0" smtClean="0"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زبانی برای کنترل داده‌ها </a:t>
            </a:r>
            <a:r>
              <a:rPr lang="en-US" sz="2000" dirty="0" smtClean="0">
                <a:cs typeface="B Nazanin" panose="00000400000000000000" pitchFamily="2" charset="-78"/>
              </a:rPr>
              <a:t>(DCL)</a:t>
            </a:r>
            <a:endParaRPr lang="fa-IR" sz="2000" dirty="0" smtClean="0">
              <a:cs typeface="B Nazanin" panose="00000400000000000000" pitchFamily="2" charset="-78"/>
            </a:endParaRPr>
          </a:p>
          <a:p>
            <a:r>
              <a:rPr lang="fa-IR" sz="2000" dirty="0" smtClean="0">
                <a:cs typeface="B Nazanin" panose="00000400000000000000" pitchFamily="2" charset="-78"/>
              </a:rPr>
              <a:t>کاربران</a:t>
            </a:r>
          </a:p>
          <a:p>
            <a:r>
              <a:rPr lang="fa-IR" sz="2000" dirty="0" smtClean="0">
                <a:cs typeface="B Nazanin" panose="00000400000000000000" pitchFamily="2" charset="-78"/>
              </a:rPr>
              <a:t>کاتالوگ سیستم</a:t>
            </a:r>
          </a:p>
          <a:p>
            <a:r>
              <a:rPr lang="fa-IR" sz="2000" dirty="0" smtClean="0">
                <a:cs typeface="B Nazanin" panose="00000400000000000000" pitchFamily="2" charset="-78"/>
              </a:rPr>
              <a:t>سیستم مدیریت پایگاه داده‌ها(</a:t>
            </a:r>
            <a:r>
              <a:rPr lang="en-US" sz="2000" dirty="0" smtClean="0">
                <a:cs typeface="B Nazanin" panose="00000400000000000000" pitchFamily="2" charset="-78"/>
              </a:rPr>
              <a:t>DBMS</a:t>
            </a:r>
            <a:r>
              <a:rPr lang="fa-IR" sz="2000" dirty="0" smtClean="0">
                <a:cs typeface="B Nazanin" panose="00000400000000000000" pitchFamily="2" charset="-78"/>
              </a:rPr>
              <a:t>)</a:t>
            </a: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824467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فصل ششم : اساس مدل رابطه‌ای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5319" y="1930400"/>
            <a:ext cx="6480698" cy="3880773"/>
          </a:xfrm>
        </p:spPr>
        <p:txBody>
          <a:bodyPr/>
          <a:lstStyle/>
          <a:p>
            <a:r>
              <a:rPr lang="fa-IR" dirty="0" smtClean="0"/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مدل رابطه‌ای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تعریف رابطه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سرایند ( </a:t>
            </a:r>
            <a:r>
              <a:rPr lang="en-US" sz="2400" dirty="0" smtClean="0">
                <a:cs typeface="B Nazanin" panose="00000400000000000000" pitchFamily="2" charset="-78"/>
              </a:rPr>
              <a:t>Header</a:t>
            </a:r>
            <a:r>
              <a:rPr lang="fa-IR" sz="2400" dirty="0" smtClean="0">
                <a:cs typeface="B Nazanin" panose="00000400000000000000" pitchFamily="2" charset="-78"/>
              </a:rPr>
              <a:t>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>
                <a:cs typeface="B Nazanin" panose="00000400000000000000" pitchFamily="2" charset="-78"/>
              </a:rPr>
              <a:t> </a:t>
            </a:r>
            <a:r>
              <a:rPr lang="fa-IR" sz="2400" dirty="0" smtClean="0">
                <a:cs typeface="B Nazanin" panose="00000400000000000000" pitchFamily="2" charset="-78"/>
              </a:rPr>
              <a:t>بدنه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شمای رابطه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انواع رابطه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کلیدها و انواع آن</a:t>
            </a:r>
            <a:endParaRPr lang="fa-IR" sz="2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47604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فصل هفتم: جبر رابطه‌ای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613" y="1584392"/>
            <a:ext cx="7770879" cy="3880773"/>
          </a:xfrm>
        </p:spPr>
        <p:txBody>
          <a:bodyPr/>
          <a:lstStyle/>
          <a:p>
            <a:r>
              <a:rPr lang="fa-IR" sz="2400" dirty="0" smtClean="0">
                <a:cs typeface="B Nazanin" panose="00000400000000000000" pitchFamily="2" charset="-78"/>
              </a:rPr>
              <a:t> جبر رابطه‌ای و عملگرهای آن</a:t>
            </a:r>
          </a:p>
          <a:p>
            <a:r>
              <a:rPr lang="fa-IR" sz="2400" dirty="0" smtClean="0">
                <a:cs typeface="B Nazanin" panose="00000400000000000000" pitchFamily="2" charset="-78"/>
              </a:rPr>
              <a:t>حساب رابطه‌ای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حساب رابطه‌ای تاپلی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400" dirty="0" smtClean="0">
                <a:cs typeface="B Nazanin" panose="00000400000000000000" pitchFamily="2" charset="-78"/>
              </a:rPr>
              <a:t>حساب رابطه‌ای میدانی</a:t>
            </a:r>
          </a:p>
          <a:p>
            <a:pPr marL="0" indent="0">
              <a:buNone/>
            </a:pP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78741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44537"/>
            <a:ext cx="8596668" cy="1320800"/>
          </a:xfrm>
        </p:spPr>
        <p:txBody>
          <a:bodyPr/>
          <a:lstStyle/>
          <a:p>
            <a:pPr algn="r"/>
            <a:r>
              <a:rPr lang="fa-IR" dirty="0" smtClean="0">
                <a:cs typeface="B Nazanin" panose="00000400000000000000" pitchFamily="2" charset="-78"/>
              </a:rPr>
              <a:t>فصل هشتم: نرمال‌سازی رابطه‌ها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842723"/>
            <a:ext cx="7857633" cy="4676025"/>
          </a:xfrm>
        </p:spPr>
        <p:txBody>
          <a:bodyPr>
            <a:noAutofit/>
          </a:bodyPr>
          <a:lstStyle/>
          <a:p>
            <a:r>
              <a:rPr lang="fa-IR" sz="2000" dirty="0" smtClean="0">
                <a:cs typeface="B Nazanin" panose="00000400000000000000" pitchFamily="2" charset="-78"/>
              </a:rPr>
              <a:t> آنومالی و افزونگی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افزونگی و انواع آن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آنومالی و انواع آن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آنومالی‌ها در عمل درج و حذف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آنومالی در عمل بروزرسانی</a:t>
            </a:r>
          </a:p>
          <a:p>
            <a:r>
              <a:rPr lang="fa-IR" sz="2000" dirty="0" smtClean="0">
                <a:cs typeface="B Nazanin" panose="00000400000000000000" pitchFamily="2" charset="-78"/>
              </a:rPr>
              <a:t>نرمال‌سازی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سطح اول نرمال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سطح دوم نرمال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سطح سوم نرمال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سطح نرمال </a:t>
            </a:r>
            <a:r>
              <a:rPr lang="en-US" sz="2000" dirty="0" smtClean="0">
                <a:cs typeface="B Nazanin" panose="00000400000000000000" pitchFamily="2" charset="-78"/>
              </a:rPr>
              <a:t>BCNF</a:t>
            </a:r>
            <a:endParaRPr lang="fa-IR" sz="2000" dirty="0" smtClean="0"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سطح چهارم نرمال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Nazanin" panose="00000400000000000000" pitchFamily="2" charset="-78"/>
              </a:rPr>
              <a:t>سطح پنجم نرمال </a:t>
            </a:r>
          </a:p>
          <a:p>
            <a:r>
              <a:rPr lang="fa-IR" sz="2000" dirty="0" smtClean="0">
                <a:cs typeface="B Nazanin" panose="00000400000000000000" pitchFamily="2" charset="-78"/>
              </a:rPr>
              <a:t>نرمال‌سازی معکوس</a:t>
            </a:r>
          </a:p>
        </p:txBody>
      </p:sp>
    </p:spTree>
    <p:extLst>
      <p:ext uri="{BB962C8B-B14F-4D97-AF65-F5344CB8AC3E}">
        <p14:creationId xmlns:p14="http://schemas.microsoft.com/office/powerpoint/2010/main" val="121536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1191</TotalTime>
  <Words>1378</Words>
  <Application>Microsoft Office PowerPoint</Application>
  <PresentationFormat>Widescreen</PresentationFormat>
  <Paragraphs>177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B Nazanin</vt:lpstr>
      <vt:lpstr>Tahoma</vt:lpstr>
      <vt:lpstr>Trebuchet MS</vt:lpstr>
      <vt:lpstr>Wingdings</vt:lpstr>
      <vt:lpstr>Wingdings 3</vt:lpstr>
      <vt:lpstr>Facet</vt:lpstr>
      <vt:lpstr>پایگاه داده </vt:lpstr>
      <vt:lpstr>فصل اول: مفاهیم اولیه</vt:lpstr>
      <vt:lpstr>مفاهیم امروزی در داده‌ها: </vt:lpstr>
      <vt:lpstr>PowerPoint Presentation</vt:lpstr>
      <vt:lpstr>PowerPoint Presentation</vt:lpstr>
      <vt:lpstr>PowerPoint Presentation</vt:lpstr>
      <vt:lpstr>نکته مهم : داده‌ها از روی تجزیه و تحلیل دانش بدست می‌آیند</vt:lpstr>
      <vt:lpstr>PowerPoint Presentation</vt:lpstr>
      <vt:lpstr>مفهوم تراکنش: مجموعه‌ای از رخدادهای پشت سر هم روی داده‌ها به طوری که از یک نقطه آغاز و به یک نقطه پایان می‌یابد.</vt:lpstr>
      <vt:lpstr>ویژگی‌های تراکنش: </vt:lpstr>
      <vt:lpstr>ایمنی و امنیت اطلاعات و خصوصی سازی: </vt:lpstr>
      <vt:lpstr>تمرین :   فلوچارت مراحل اجرا و خروجی یک تراکنش را رسم کنید.</vt:lpstr>
      <vt:lpstr>فصل دوم: روش‌های پیاده‌سازی سیستم اطلاعاتی</vt:lpstr>
      <vt:lpstr>روش اول : سیستم‌های فایلینگ </vt:lpstr>
      <vt:lpstr>PowerPoint Presentation</vt:lpstr>
      <vt:lpstr>معایب روش فایلینگ:</vt:lpstr>
      <vt:lpstr>PowerPoint Presentation</vt:lpstr>
      <vt:lpstr>PowerPoint Presentation</vt:lpstr>
      <vt:lpstr>PowerPoint Presentation</vt:lpstr>
      <vt:lpstr>مهمترین مزیت سیستم فایلینگ:</vt:lpstr>
      <vt:lpstr>فصل سوم : مدل‌سازی</vt:lpstr>
      <vt:lpstr>فصل چهارم: طراحی منطقی پایگاه داده‌ها</vt:lpstr>
      <vt:lpstr>فصل پنجم: معماری پایگاه داده‌ها</vt:lpstr>
      <vt:lpstr>فصل ششم : اساس مدل رابطه‌ای</vt:lpstr>
      <vt:lpstr>فصل هفتم: جبر رابطه‌ای</vt:lpstr>
      <vt:lpstr>فصل هشتم: نرمال‌سازی رابطه‌ها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پایگاه  داده</dc:title>
  <dc:creator>jamshidi</dc:creator>
  <cp:lastModifiedBy>jamshidi</cp:lastModifiedBy>
  <cp:revision>71</cp:revision>
  <dcterms:created xsi:type="dcterms:W3CDTF">2023-09-20T11:00:30Z</dcterms:created>
  <dcterms:modified xsi:type="dcterms:W3CDTF">2024-09-29T18:13:26Z</dcterms:modified>
</cp:coreProperties>
</file>